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5"/>
  </p:notesMasterIdLst>
  <p:sldIdLst>
    <p:sldId id="256" r:id="rId2"/>
    <p:sldId id="257" r:id="rId3"/>
    <p:sldId id="264" r:id="rId4"/>
    <p:sldId id="265" r:id="rId5"/>
    <p:sldId id="266" r:id="rId6"/>
    <p:sldId id="267" r:id="rId7"/>
    <p:sldId id="268" r:id="rId8"/>
    <p:sldId id="269" r:id="rId9"/>
    <p:sldId id="270" r:id="rId10"/>
    <p:sldId id="271" r:id="rId11"/>
    <p:sldId id="272" r:id="rId12"/>
    <p:sldId id="273" r:id="rId13"/>
    <p:sldId id="263" r:id="rId14"/>
  </p:sldIdLst>
  <p:sldSz cx="18288000" cy="10287000"/>
  <p:notesSz cx="6858000" cy="9144000"/>
  <p:embeddedFontLst>
    <p:embeddedFont>
      <p:font typeface="Arial Black" panose="020B0A04020102020204" pitchFamily="34" charset="0"/>
      <p:bold r:id="rId1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16D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CCEDF94-A241-420E-A2ED-F80FA9455F3E}" v="431" dt="2024-03-26T00:14:41.47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1"/>
    <p:restoredTop sz="94692"/>
  </p:normalViewPr>
  <p:slideViewPr>
    <p:cSldViewPr snapToGrid="0">
      <p:cViewPr varScale="1">
        <p:scale>
          <a:sx n="70" d="100"/>
          <a:sy n="70" d="100"/>
        </p:scale>
        <p:origin x="774" y="8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cas Dartora" userId="f7cc721436d0444a" providerId="LiveId" clId="{ACCEDF94-A241-420E-A2ED-F80FA9455F3E}"/>
    <pc:docChg chg="addSld modSld">
      <pc:chgData name="Lucas Dartora" userId="f7cc721436d0444a" providerId="LiveId" clId="{ACCEDF94-A241-420E-A2ED-F80FA9455F3E}" dt="2024-03-26T00:14:41.472" v="489" actId="20577"/>
      <pc:docMkLst>
        <pc:docMk/>
      </pc:docMkLst>
      <pc:sldChg chg="modSp mod">
        <pc:chgData name="Lucas Dartora" userId="f7cc721436d0444a" providerId="LiveId" clId="{ACCEDF94-A241-420E-A2ED-F80FA9455F3E}" dt="2024-03-26T00:07:54.064" v="7" actId="20577"/>
        <pc:sldMkLst>
          <pc:docMk/>
          <pc:sldMk cId="0" sldId="257"/>
        </pc:sldMkLst>
        <pc:spChg chg="mod">
          <ac:chgData name="Lucas Dartora" userId="f7cc721436d0444a" providerId="LiveId" clId="{ACCEDF94-A241-420E-A2ED-F80FA9455F3E}" dt="2024-03-26T00:07:54.064" v="7" actId="20577"/>
          <ac:spMkLst>
            <pc:docMk/>
            <pc:sldMk cId="0" sldId="257"/>
            <ac:spMk id="11" creationId="{00000000-0000-0000-0000-000000000000}"/>
          </ac:spMkLst>
        </pc:spChg>
      </pc:sldChg>
      <pc:sldChg chg="modSp add mod">
        <pc:chgData name="Lucas Dartora" userId="f7cc721436d0444a" providerId="LiveId" clId="{ACCEDF94-A241-420E-A2ED-F80FA9455F3E}" dt="2024-03-26T00:08:17.226" v="58" actId="20577"/>
        <pc:sldMkLst>
          <pc:docMk/>
          <pc:sldMk cId="3056300743" sldId="264"/>
        </pc:sldMkLst>
        <pc:spChg chg="mod">
          <ac:chgData name="Lucas Dartora" userId="f7cc721436d0444a" providerId="LiveId" clId="{ACCEDF94-A241-420E-A2ED-F80FA9455F3E}" dt="2024-03-26T00:08:04.371" v="30" actId="20577"/>
          <ac:spMkLst>
            <pc:docMk/>
            <pc:sldMk cId="3056300743" sldId="264"/>
            <ac:spMk id="11" creationId="{00000000-0000-0000-0000-000000000000}"/>
          </ac:spMkLst>
        </pc:spChg>
        <pc:spChg chg="mod">
          <ac:chgData name="Lucas Dartora" userId="f7cc721436d0444a" providerId="LiveId" clId="{ACCEDF94-A241-420E-A2ED-F80FA9455F3E}" dt="2024-03-26T00:08:17.226" v="58" actId="20577"/>
          <ac:spMkLst>
            <pc:docMk/>
            <pc:sldMk cId="3056300743" sldId="264"/>
            <ac:spMk id="106" creationId="{00000000-0000-0000-0000-000000000000}"/>
          </ac:spMkLst>
        </pc:spChg>
      </pc:sldChg>
      <pc:sldChg chg="modSp add mod">
        <pc:chgData name="Lucas Dartora" userId="f7cc721436d0444a" providerId="LiveId" clId="{ACCEDF94-A241-420E-A2ED-F80FA9455F3E}" dt="2024-03-26T00:14:41.472" v="489" actId="20577"/>
        <pc:sldMkLst>
          <pc:docMk/>
          <pc:sldMk cId="1918724868" sldId="265"/>
        </pc:sldMkLst>
        <pc:spChg chg="mod">
          <ac:chgData name="Lucas Dartora" userId="f7cc721436d0444a" providerId="LiveId" clId="{ACCEDF94-A241-420E-A2ED-F80FA9455F3E}" dt="2024-03-26T00:11:12.833" v="485" actId="20577"/>
          <ac:spMkLst>
            <pc:docMk/>
            <pc:sldMk cId="1918724868" sldId="265"/>
            <ac:spMk id="10" creationId="{00000000-0000-0000-0000-000000000000}"/>
          </ac:spMkLst>
        </pc:spChg>
        <pc:spChg chg="mod">
          <ac:chgData name="Lucas Dartora" userId="f7cc721436d0444a" providerId="LiveId" clId="{ACCEDF94-A241-420E-A2ED-F80FA9455F3E}" dt="2024-03-26T00:09:22.008" v="87" actId="20577"/>
          <ac:spMkLst>
            <pc:docMk/>
            <pc:sldMk cId="1918724868" sldId="265"/>
            <ac:spMk id="11" creationId="{00000000-0000-0000-0000-000000000000}"/>
          </ac:spMkLst>
        </pc:spChg>
        <pc:spChg chg="mod">
          <ac:chgData name="Lucas Dartora" userId="f7cc721436d0444a" providerId="LiveId" clId="{ACCEDF94-A241-420E-A2ED-F80FA9455F3E}" dt="2024-03-26T00:14:41.472" v="489" actId="20577"/>
          <ac:spMkLst>
            <pc:docMk/>
            <pc:sldMk cId="1918724868" sldId="265"/>
            <ac:spMk id="106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34834616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27068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130636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>
          <a:extLst>
            <a:ext uri="{FF2B5EF4-FFF2-40B4-BE49-F238E27FC236}">
              <a16:creationId xmlns:a16="http://schemas.microsoft.com/office/drawing/2014/main" id="{361A9CE0-7E81-6D24-FE61-116A66B20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:notes">
            <a:extLst>
              <a:ext uri="{FF2B5EF4-FFF2-40B4-BE49-F238E27FC236}">
                <a16:creationId xmlns:a16="http://schemas.microsoft.com/office/drawing/2014/main" id="{3134229B-3929-49C5-C9B7-0DDFCC2D35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2:notes">
            <a:extLst>
              <a:ext uri="{FF2B5EF4-FFF2-40B4-BE49-F238E27FC236}">
                <a16:creationId xmlns:a16="http://schemas.microsoft.com/office/drawing/2014/main" id="{612DB8A8-203B-EC83-6C95-CF548433E3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880563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>
          <a:extLst>
            <a:ext uri="{FF2B5EF4-FFF2-40B4-BE49-F238E27FC236}">
              <a16:creationId xmlns:a16="http://schemas.microsoft.com/office/drawing/2014/main" id="{6C4B7E6D-A9FA-4A10-880F-CFA13E496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:notes">
            <a:extLst>
              <a:ext uri="{FF2B5EF4-FFF2-40B4-BE49-F238E27FC236}">
                <a16:creationId xmlns:a16="http://schemas.microsoft.com/office/drawing/2014/main" id="{65DFD73B-5B0A-F9C5-B196-CDF2C86A2D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2:notes">
            <a:extLst>
              <a:ext uri="{FF2B5EF4-FFF2-40B4-BE49-F238E27FC236}">
                <a16:creationId xmlns:a16="http://schemas.microsoft.com/office/drawing/2014/main" id="{4E571F2A-EA47-F2E7-2857-4C837B3D39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803078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>
          <a:extLst>
            <a:ext uri="{FF2B5EF4-FFF2-40B4-BE49-F238E27FC236}">
              <a16:creationId xmlns:a16="http://schemas.microsoft.com/office/drawing/2014/main" id="{D9E9D1B4-297C-740F-204D-E94D851BA7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:notes">
            <a:extLst>
              <a:ext uri="{FF2B5EF4-FFF2-40B4-BE49-F238E27FC236}">
                <a16:creationId xmlns:a16="http://schemas.microsoft.com/office/drawing/2014/main" id="{ACC5FACC-1A11-5B8C-2590-79DC566D22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2:notes">
            <a:extLst>
              <a:ext uri="{FF2B5EF4-FFF2-40B4-BE49-F238E27FC236}">
                <a16:creationId xmlns:a16="http://schemas.microsoft.com/office/drawing/2014/main" id="{2E41F53D-7381-9D27-9C94-777E7555D1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848579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>
          <a:extLst>
            <a:ext uri="{FF2B5EF4-FFF2-40B4-BE49-F238E27FC236}">
              <a16:creationId xmlns:a16="http://schemas.microsoft.com/office/drawing/2014/main" id="{20D7CA06-885E-AA32-A1BE-DC774E349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:notes">
            <a:extLst>
              <a:ext uri="{FF2B5EF4-FFF2-40B4-BE49-F238E27FC236}">
                <a16:creationId xmlns:a16="http://schemas.microsoft.com/office/drawing/2014/main" id="{53DA1C9D-7205-BAAB-5627-B13136153E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2:notes">
            <a:extLst>
              <a:ext uri="{FF2B5EF4-FFF2-40B4-BE49-F238E27FC236}">
                <a16:creationId xmlns:a16="http://schemas.microsoft.com/office/drawing/2014/main" id="{2449599F-6509-0493-3629-DCA5F93DB05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519738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>
          <a:extLst>
            <a:ext uri="{FF2B5EF4-FFF2-40B4-BE49-F238E27FC236}">
              <a16:creationId xmlns:a16="http://schemas.microsoft.com/office/drawing/2014/main" id="{241FC343-B9BE-E87A-D6C2-B03D78F86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:notes">
            <a:extLst>
              <a:ext uri="{FF2B5EF4-FFF2-40B4-BE49-F238E27FC236}">
                <a16:creationId xmlns:a16="http://schemas.microsoft.com/office/drawing/2014/main" id="{3929B020-2284-C810-B53A-139D16E596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2:notes">
            <a:extLst>
              <a:ext uri="{FF2B5EF4-FFF2-40B4-BE49-F238E27FC236}">
                <a16:creationId xmlns:a16="http://schemas.microsoft.com/office/drawing/2014/main" id="{A964B1A0-6980-3DD5-21CF-24FDA70B17D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748315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>
          <a:extLst>
            <a:ext uri="{FF2B5EF4-FFF2-40B4-BE49-F238E27FC236}">
              <a16:creationId xmlns:a16="http://schemas.microsoft.com/office/drawing/2014/main" id="{53771F41-4C67-0E7C-9224-949E35DC1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:notes">
            <a:extLst>
              <a:ext uri="{FF2B5EF4-FFF2-40B4-BE49-F238E27FC236}">
                <a16:creationId xmlns:a16="http://schemas.microsoft.com/office/drawing/2014/main" id="{3EF40F96-5E9D-055D-6E6D-3E54837167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2:notes">
            <a:extLst>
              <a:ext uri="{FF2B5EF4-FFF2-40B4-BE49-F238E27FC236}">
                <a16:creationId xmlns:a16="http://schemas.microsoft.com/office/drawing/2014/main" id="{BB210BA0-F7F0-6CBA-A9C0-E781F7BF22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21637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>
          <a:extLst>
            <a:ext uri="{FF2B5EF4-FFF2-40B4-BE49-F238E27FC236}">
              <a16:creationId xmlns:a16="http://schemas.microsoft.com/office/drawing/2014/main" id="{5ECFFE08-A852-FA85-DD84-65375B91E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:notes">
            <a:extLst>
              <a:ext uri="{FF2B5EF4-FFF2-40B4-BE49-F238E27FC236}">
                <a16:creationId xmlns:a16="http://schemas.microsoft.com/office/drawing/2014/main" id="{C82F2015-BF7C-8E8C-CE26-2601007282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2:notes">
            <a:extLst>
              <a:ext uri="{FF2B5EF4-FFF2-40B4-BE49-F238E27FC236}">
                <a16:creationId xmlns:a16="http://schemas.microsoft.com/office/drawing/2014/main" id="{F3EC06D7-C852-8DDF-5449-8F33BB8712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894991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>
          <a:extLst>
            <a:ext uri="{FF2B5EF4-FFF2-40B4-BE49-F238E27FC236}">
              <a16:creationId xmlns:a16="http://schemas.microsoft.com/office/drawing/2014/main" id="{09F102A2-3E1F-64E6-594C-359F23FC0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:notes">
            <a:extLst>
              <a:ext uri="{FF2B5EF4-FFF2-40B4-BE49-F238E27FC236}">
                <a16:creationId xmlns:a16="http://schemas.microsoft.com/office/drawing/2014/main" id="{F202EB54-E6BC-595E-F35C-773D828BFB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2:notes">
            <a:extLst>
              <a:ext uri="{FF2B5EF4-FFF2-40B4-BE49-F238E27FC236}">
                <a16:creationId xmlns:a16="http://schemas.microsoft.com/office/drawing/2014/main" id="{4023AE58-FCBF-0982-0D99-0D0120E6A6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264471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>
          <a:extLst>
            <a:ext uri="{FF2B5EF4-FFF2-40B4-BE49-F238E27FC236}">
              <a16:creationId xmlns:a16="http://schemas.microsoft.com/office/drawing/2014/main" id="{D4E42D50-0664-D3F5-795B-DF0B7B819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:notes">
            <a:extLst>
              <a:ext uri="{FF2B5EF4-FFF2-40B4-BE49-F238E27FC236}">
                <a16:creationId xmlns:a16="http://schemas.microsoft.com/office/drawing/2014/main" id="{5706D329-A59D-CE51-D4A7-2DB04171C5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2:notes">
            <a:extLst>
              <a:ext uri="{FF2B5EF4-FFF2-40B4-BE49-F238E27FC236}">
                <a16:creationId xmlns:a16="http://schemas.microsoft.com/office/drawing/2014/main" id="{3D0C0593-E03A-B8AA-72F4-651E1A21A2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636393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>
          <a:extLst>
            <a:ext uri="{FF2B5EF4-FFF2-40B4-BE49-F238E27FC236}">
              <a16:creationId xmlns:a16="http://schemas.microsoft.com/office/drawing/2014/main" id="{10514007-805E-9D65-DB6F-A150722A2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:notes">
            <a:extLst>
              <a:ext uri="{FF2B5EF4-FFF2-40B4-BE49-F238E27FC236}">
                <a16:creationId xmlns:a16="http://schemas.microsoft.com/office/drawing/2014/main" id="{3E2B0DC2-9A63-A7DA-1C01-DAFC1D0544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2:notes">
            <a:extLst>
              <a:ext uri="{FF2B5EF4-FFF2-40B4-BE49-F238E27FC236}">
                <a16:creationId xmlns:a16="http://schemas.microsoft.com/office/drawing/2014/main" id="{CF5E73B5-3CBF-E8BE-8FA5-B251A8C6E1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1532798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9" name="Google Shape;209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306556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0" name="Google Shape;40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1" name="Google Shape;41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50" name="Google Shape;50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10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/>
        </p:nvSpPr>
        <p:spPr>
          <a:xfrm>
            <a:off x="1212112" y="2961160"/>
            <a:ext cx="14747357" cy="16743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647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0" b="1" i="0" u="none" strike="noStrike" cap="none" dirty="0">
                <a:solidFill>
                  <a:srgbClr val="19191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/>
                <a:ea typeface="Arial"/>
                <a:cs typeface="Arial"/>
                <a:sym typeface="Arial"/>
              </a:rPr>
              <a:t>Engenharia de Software</a:t>
            </a:r>
            <a:endParaRPr sz="8000" b="1" i="0" u="none" strike="noStrike" cap="none" dirty="0">
              <a:solidFill>
                <a:srgbClr val="191919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13"/>
          <p:cNvSpPr txBox="1"/>
          <p:nvPr/>
        </p:nvSpPr>
        <p:spPr>
          <a:xfrm>
            <a:off x="2891879" y="5143500"/>
            <a:ext cx="10394004" cy="1252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 b="0" i="0" u="none" strike="noStrike" cap="none" dirty="0">
                <a:solidFill>
                  <a:srgbClr val="191919"/>
                </a:solidFill>
                <a:latin typeface="Arial Black"/>
                <a:ea typeface="Arial Black"/>
                <a:cs typeface="Arial Black"/>
                <a:sym typeface="Arial Black"/>
              </a:rPr>
              <a:t>Análise de Acidentes de Trânsito no Brasil com Big Data(2024–2025)</a:t>
            </a:r>
            <a:endParaRPr lang="en-US" sz="3200" b="0" i="0" u="none" strike="noStrike" cap="none" dirty="0">
              <a:solidFill>
                <a:srgbClr val="191919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sp>
        <p:nvSpPr>
          <p:cNvPr id="95" name="Google Shape;95;p13"/>
          <p:cNvSpPr txBox="1"/>
          <p:nvPr/>
        </p:nvSpPr>
        <p:spPr>
          <a:xfrm rot="5400000">
            <a:off x="14663205" y="5711877"/>
            <a:ext cx="6553198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BIGDATA</a:t>
            </a:r>
            <a:endParaRPr sz="1600" b="0" i="0" u="none" strike="noStrike" cap="none" dirty="0">
              <a:solidFill>
                <a:srgbClr val="7F7F7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6" name="Google Shape;96;p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767564" y="187896"/>
            <a:ext cx="1977483" cy="1684851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93;p13"/>
          <p:cNvSpPr txBox="1"/>
          <p:nvPr/>
        </p:nvSpPr>
        <p:spPr>
          <a:xfrm>
            <a:off x="4715866" y="6445800"/>
            <a:ext cx="6746031" cy="417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191919"/>
                </a:solidFill>
                <a:latin typeface="+mn-lt"/>
                <a:ea typeface="Arial Black"/>
                <a:cs typeface="Arial Black"/>
                <a:sym typeface="Arial Black"/>
              </a:rPr>
              <a:t>Nathan Henrique Mariotto Ritz</a:t>
            </a:r>
            <a:endParaRPr sz="2400" b="1" i="0" u="none" strike="noStrike" cap="none" dirty="0">
              <a:solidFill>
                <a:srgbClr val="191919"/>
              </a:solidFill>
              <a:latin typeface="+mn-lt"/>
              <a:ea typeface="Arial Black"/>
              <a:cs typeface="Arial Black"/>
              <a:sym typeface="Arial Black"/>
            </a:endParaRPr>
          </a:p>
        </p:txBody>
      </p:sp>
      <p:sp>
        <p:nvSpPr>
          <p:cNvPr id="17" name="Google Shape;93;p13"/>
          <p:cNvSpPr txBox="1"/>
          <p:nvPr/>
        </p:nvSpPr>
        <p:spPr>
          <a:xfrm>
            <a:off x="4850545" y="9212501"/>
            <a:ext cx="6746031" cy="347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91919"/>
                </a:solidFill>
                <a:latin typeface="+mn-lt"/>
                <a:ea typeface="Arial Black"/>
                <a:cs typeface="Arial Black"/>
                <a:sym typeface="Arial Black"/>
              </a:rPr>
              <a:t>Toledo, 2025</a:t>
            </a:r>
            <a:endParaRPr sz="2000" b="1" i="0" u="none" strike="noStrike" cap="none" dirty="0">
              <a:solidFill>
                <a:srgbClr val="191919"/>
              </a:solidFill>
              <a:latin typeface="+mn-lt"/>
              <a:ea typeface="Arial Black"/>
              <a:cs typeface="Arial Black"/>
              <a:sym typeface="Arial Black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4"/>
          <p:cNvSpPr txBox="1"/>
          <p:nvPr/>
        </p:nvSpPr>
        <p:spPr>
          <a:xfrm>
            <a:off x="1028700" y="2755900"/>
            <a:ext cx="14833600" cy="45243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just">
              <a:lnSpc>
                <a:spcPct val="150000"/>
              </a:lnSpc>
            </a:pPr>
            <a:r>
              <a:rPr lang="pt-BR" sz="2800" dirty="0">
                <a:solidFill>
                  <a:srgbClr val="191919"/>
                </a:solidFill>
              </a:rPr>
              <a:t>Demonstrar as etapas do pipeline de Big Data aplicadas aos dados de acidentes de trânsito.</a:t>
            </a:r>
          </a:p>
          <a:p>
            <a:pPr lvl="0" algn="just">
              <a:lnSpc>
                <a:spcPct val="150000"/>
              </a:lnSpc>
            </a:pPr>
            <a:r>
              <a:rPr lang="pt-BR" sz="2800" dirty="0">
                <a:solidFill>
                  <a:srgbClr val="191919"/>
                </a:solidFill>
              </a:rPr>
              <a:t>Integrar:</a:t>
            </a:r>
          </a:p>
          <a:p>
            <a:pPr lvl="0" algn="just">
              <a:lnSpc>
                <a:spcPct val="150000"/>
              </a:lnSpc>
            </a:pPr>
            <a:endParaRPr lang="pt-BR" sz="2800" b="0" i="0" u="none" strike="noStrike" cap="none" dirty="0">
              <a:solidFill>
                <a:srgbClr val="191919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800" dirty="0">
                <a:solidFill>
                  <a:srgbClr val="191919"/>
                </a:solidFill>
              </a:rPr>
              <a:t>Dados estruturados (CSV oficiais DATATRAN)</a:t>
            </a: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800" dirty="0">
                <a:solidFill>
                  <a:srgbClr val="191919"/>
                </a:solidFill>
              </a:rPr>
              <a:t>Dados não estruturados (Web Mining + NLP)</a:t>
            </a: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800" dirty="0">
                <a:solidFill>
                  <a:srgbClr val="191919"/>
                </a:solidFill>
              </a:rPr>
              <a:t>Modelagem Preditiva (Machine Learning)</a:t>
            </a: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800" dirty="0">
                <a:solidFill>
                  <a:srgbClr val="191919"/>
                </a:solidFill>
              </a:rPr>
              <a:t>Visualização geográfica e analítica</a:t>
            </a:r>
            <a:endParaRPr sz="2800" b="0" i="0" u="none" strike="noStrike" cap="none" dirty="0">
              <a:solidFill>
                <a:srgbClr val="19191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9" name="Google Shape;109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078200" y="132331"/>
            <a:ext cx="1977483" cy="1684851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4"/>
          <p:cNvSpPr txBox="1"/>
          <p:nvPr/>
        </p:nvSpPr>
        <p:spPr>
          <a:xfrm>
            <a:off x="152400" y="9944100"/>
            <a:ext cx="6899312" cy="258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 dirty="0">
                <a:solidFill>
                  <a:srgbClr val="0C0C0C"/>
                </a:solidFill>
                <a:latin typeface="Arial"/>
                <a:ea typeface="Arial"/>
                <a:cs typeface="Arial"/>
                <a:sym typeface="Arial"/>
              </a:rPr>
              <a:t>BIGDATA</a:t>
            </a:r>
          </a:p>
        </p:txBody>
      </p:sp>
      <p:sp>
        <p:nvSpPr>
          <p:cNvPr id="11" name="Retângulo 10"/>
          <p:cNvSpPr/>
          <p:nvPr/>
        </p:nvSpPr>
        <p:spPr>
          <a:xfrm>
            <a:off x="732265" y="453072"/>
            <a:ext cx="3877985" cy="120032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pt-BR" sz="7200" b="1" dirty="0">
                <a:ln w="0"/>
                <a:solidFill>
                  <a:srgbClr val="416D3F"/>
                </a:solidFill>
                <a:effectLst>
                  <a:outerShdw blurRad="50800" dist="38100" dir="10800000" algn="r" rotWithShape="0">
                    <a:prstClr val="black">
                      <a:alpha val="40000"/>
                    </a:prstClr>
                  </a:outerShdw>
                </a:effectLst>
              </a:rPr>
              <a:t>Objetivo</a:t>
            </a:r>
            <a:endParaRPr lang="pt-BR" sz="7200" b="1" cap="none" spc="0" dirty="0">
              <a:ln w="0"/>
              <a:solidFill>
                <a:srgbClr val="416D3F"/>
              </a:solidFill>
              <a:effectLst>
                <a:outerShdw blurRad="50800" dist="38100" dir="10800000" algn="r" rotWithShape="0">
                  <a:prstClr val="black">
                    <a:alpha val="40000"/>
                  </a:prstClr>
                </a:outerShdw>
              </a:effectLst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>
          <a:extLst>
            <a:ext uri="{FF2B5EF4-FFF2-40B4-BE49-F238E27FC236}">
              <a16:creationId xmlns:a16="http://schemas.microsoft.com/office/drawing/2014/main" id="{80720C94-B6D4-BE46-6353-13CF0C42E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4">
            <a:extLst>
              <a:ext uri="{FF2B5EF4-FFF2-40B4-BE49-F238E27FC236}">
                <a16:creationId xmlns:a16="http://schemas.microsoft.com/office/drawing/2014/main" id="{1DD62CAB-121E-018B-97D6-F14811F4C946}"/>
              </a:ext>
            </a:extLst>
          </p:cNvPr>
          <p:cNvSpPr txBox="1"/>
          <p:nvPr/>
        </p:nvSpPr>
        <p:spPr>
          <a:xfrm>
            <a:off x="1028700" y="2755900"/>
            <a:ext cx="14833600" cy="51706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just">
              <a:lnSpc>
                <a:spcPct val="150000"/>
              </a:lnSpc>
            </a:pPr>
            <a:r>
              <a:rPr lang="pt-BR" sz="2800" dirty="0">
                <a:solidFill>
                  <a:srgbClr val="191919"/>
                </a:solidFill>
              </a:rPr>
              <a:t>Linguagens e bibliotecas:</a:t>
            </a:r>
          </a:p>
          <a:p>
            <a:pPr lvl="0" algn="just">
              <a:lnSpc>
                <a:spcPct val="150000"/>
              </a:lnSpc>
            </a:pPr>
            <a:endParaRPr lang="pt-BR" sz="2800" dirty="0">
              <a:solidFill>
                <a:srgbClr val="191919"/>
              </a:solidFill>
            </a:endParaRP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800" dirty="0">
                <a:solidFill>
                  <a:srgbClr val="191919"/>
                </a:solidFill>
              </a:rPr>
              <a:t>Python</a:t>
            </a: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800" dirty="0">
                <a:solidFill>
                  <a:srgbClr val="191919"/>
                </a:solidFill>
              </a:rPr>
              <a:t>Pandas</a:t>
            </a: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800" dirty="0" err="1">
                <a:solidFill>
                  <a:srgbClr val="191919"/>
                </a:solidFill>
              </a:rPr>
              <a:t>NumPyFolium</a:t>
            </a:r>
            <a:r>
              <a:rPr lang="pt-BR" sz="2800" dirty="0">
                <a:solidFill>
                  <a:srgbClr val="191919"/>
                </a:solidFill>
              </a:rPr>
              <a:t> (mapas)</a:t>
            </a: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800" dirty="0" err="1">
                <a:solidFill>
                  <a:srgbClr val="191919"/>
                </a:solidFill>
              </a:rPr>
              <a:t>Matplotlib</a:t>
            </a:r>
            <a:r>
              <a:rPr lang="pt-BR" sz="2800" dirty="0">
                <a:solidFill>
                  <a:srgbClr val="191919"/>
                </a:solidFill>
              </a:rPr>
              <a:t> &amp; </a:t>
            </a:r>
            <a:r>
              <a:rPr lang="pt-BR" sz="2800" dirty="0" err="1">
                <a:solidFill>
                  <a:srgbClr val="191919"/>
                </a:solidFill>
              </a:rPr>
              <a:t>Seaborn</a:t>
            </a:r>
            <a:endParaRPr lang="pt-BR" sz="2800" dirty="0">
              <a:solidFill>
                <a:srgbClr val="191919"/>
              </a:solidFill>
            </a:endParaRP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800" dirty="0">
                <a:solidFill>
                  <a:srgbClr val="191919"/>
                </a:solidFill>
              </a:rPr>
              <a:t>NLTK (NLP)</a:t>
            </a: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800" dirty="0" err="1">
                <a:solidFill>
                  <a:srgbClr val="191919"/>
                </a:solidFill>
              </a:rPr>
              <a:t>Scikit-Learn</a:t>
            </a:r>
            <a:r>
              <a:rPr lang="pt-BR" sz="2800" dirty="0">
                <a:solidFill>
                  <a:srgbClr val="191919"/>
                </a:solidFill>
              </a:rPr>
              <a:t> (Machine Learning)</a:t>
            </a:r>
          </a:p>
        </p:txBody>
      </p:sp>
      <p:pic>
        <p:nvPicPr>
          <p:cNvPr id="109" name="Google Shape;109;p14">
            <a:extLst>
              <a:ext uri="{FF2B5EF4-FFF2-40B4-BE49-F238E27FC236}">
                <a16:creationId xmlns:a16="http://schemas.microsoft.com/office/drawing/2014/main" id="{EC7F97C9-667F-3759-83DB-2D9CC516DB7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078200" y="132331"/>
            <a:ext cx="1977483" cy="1684851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4">
            <a:extLst>
              <a:ext uri="{FF2B5EF4-FFF2-40B4-BE49-F238E27FC236}">
                <a16:creationId xmlns:a16="http://schemas.microsoft.com/office/drawing/2014/main" id="{49E44CB8-7ABD-D079-6205-429850DA9288}"/>
              </a:ext>
            </a:extLst>
          </p:cNvPr>
          <p:cNvSpPr txBox="1"/>
          <p:nvPr/>
        </p:nvSpPr>
        <p:spPr>
          <a:xfrm>
            <a:off x="152400" y="9944100"/>
            <a:ext cx="6899312" cy="258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 dirty="0">
                <a:solidFill>
                  <a:srgbClr val="0C0C0C"/>
                </a:solidFill>
                <a:latin typeface="Arial"/>
                <a:ea typeface="Arial"/>
                <a:cs typeface="Arial"/>
                <a:sym typeface="Arial"/>
              </a:rPr>
              <a:t>BIGDATA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37A130F3-236D-E7C3-1128-D2C7D357655E}"/>
              </a:ext>
            </a:extLst>
          </p:cNvPr>
          <p:cNvSpPr/>
          <p:nvPr/>
        </p:nvSpPr>
        <p:spPr>
          <a:xfrm>
            <a:off x="732265" y="453072"/>
            <a:ext cx="10136108" cy="120032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pt-BR" sz="7200" b="1" dirty="0">
                <a:ln w="0"/>
                <a:solidFill>
                  <a:srgbClr val="416D3F"/>
                </a:solidFill>
                <a:effectLst>
                  <a:outerShdw blurRad="50800" dist="38100" dir="10800000" algn="r" rotWithShape="0">
                    <a:prstClr val="black">
                      <a:alpha val="40000"/>
                    </a:prstClr>
                  </a:outerShdw>
                </a:effectLst>
              </a:rPr>
              <a:t>Tecnologias Utilizadas</a:t>
            </a:r>
            <a:endParaRPr lang="pt-BR" sz="7200" b="1" cap="none" spc="0" dirty="0">
              <a:ln w="0"/>
              <a:solidFill>
                <a:srgbClr val="416D3F"/>
              </a:solidFill>
              <a:effectLst>
                <a:outerShdw blurRad="50800" dist="38100" dir="10800000" algn="r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F0F054AB-8F4C-EC26-47F6-6AFB0C4B89AD}"/>
              </a:ext>
            </a:extLst>
          </p:cNvPr>
          <p:cNvSpPr txBox="1"/>
          <p:nvPr/>
        </p:nvSpPr>
        <p:spPr>
          <a:xfrm>
            <a:off x="8215952" y="3289110"/>
            <a:ext cx="8311487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just">
              <a:lnSpc>
                <a:spcPct val="150000"/>
              </a:lnSpc>
            </a:pPr>
            <a:r>
              <a:rPr lang="pt-BR" sz="2800" dirty="0">
                <a:solidFill>
                  <a:srgbClr val="191919"/>
                </a:solidFill>
              </a:rPr>
              <a:t>Fontes de dados:</a:t>
            </a:r>
          </a:p>
          <a:p>
            <a:pPr lvl="0" algn="just">
              <a:lnSpc>
                <a:spcPct val="150000"/>
              </a:lnSpc>
            </a:pPr>
            <a:endParaRPr lang="pt-BR" sz="2800" dirty="0">
              <a:solidFill>
                <a:srgbClr val="191919"/>
              </a:solidFill>
            </a:endParaRP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800" dirty="0">
                <a:solidFill>
                  <a:srgbClr val="191919"/>
                </a:solidFill>
              </a:rPr>
              <a:t>DATATRAN 2024</a:t>
            </a: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800" dirty="0">
                <a:solidFill>
                  <a:srgbClr val="191919"/>
                </a:solidFill>
              </a:rPr>
              <a:t>DATATRAN 2025</a:t>
            </a: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800" dirty="0">
                <a:solidFill>
                  <a:srgbClr val="191919"/>
                </a:solidFill>
              </a:rPr>
              <a:t>Simulação de Web </a:t>
            </a:r>
            <a:r>
              <a:rPr lang="pt-BR" sz="2800" dirty="0" err="1">
                <a:solidFill>
                  <a:srgbClr val="191919"/>
                </a:solidFill>
              </a:rPr>
              <a:t>Scraping</a:t>
            </a:r>
            <a:r>
              <a:rPr lang="pt-BR" sz="2800" dirty="0">
                <a:solidFill>
                  <a:srgbClr val="191919"/>
                </a:solidFill>
              </a:rPr>
              <a:t> (G1)</a:t>
            </a:r>
          </a:p>
          <a:p>
            <a:endParaRPr lang="pt-BR" sz="2800" dirty="0"/>
          </a:p>
        </p:txBody>
      </p:sp>
      <p:pic>
        <p:nvPicPr>
          <p:cNvPr id="2050" name="Picture 2" descr="Imagem de a Big Data architecture pipeline">
            <a:extLst>
              <a:ext uri="{FF2B5EF4-FFF2-40B4-BE49-F238E27FC236}">
                <a16:creationId xmlns:a16="http://schemas.microsoft.com/office/drawing/2014/main" id="{2EDE673F-AFDF-02D1-0142-5412ED92A4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42486" y="6673785"/>
            <a:ext cx="9293114" cy="3480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24215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>
          <a:extLst>
            <a:ext uri="{FF2B5EF4-FFF2-40B4-BE49-F238E27FC236}">
              <a16:creationId xmlns:a16="http://schemas.microsoft.com/office/drawing/2014/main" id="{B1CE36C6-3FE1-7EF8-7EC4-7FCEAA9788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4">
            <a:extLst>
              <a:ext uri="{FF2B5EF4-FFF2-40B4-BE49-F238E27FC236}">
                <a16:creationId xmlns:a16="http://schemas.microsoft.com/office/drawing/2014/main" id="{F728D6C0-51EA-B189-F8B3-AAFD9253CF8D}"/>
              </a:ext>
            </a:extLst>
          </p:cNvPr>
          <p:cNvSpPr txBox="1"/>
          <p:nvPr/>
        </p:nvSpPr>
        <p:spPr>
          <a:xfrm>
            <a:off x="1028700" y="3121094"/>
            <a:ext cx="14833600" cy="38779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just">
              <a:lnSpc>
                <a:spcPct val="150000"/>
              </a:lnSpc>
            </a:pPr>
            <a:r>
              <a:rPr lang="pt-BR" sz="2800" dirty="0">
                <a:solidFill>
                  <a:srgbClr val="191919"/>
                </a:solidFill>
              </a:rPr>
              <a:t>Leitura de duas bases de dados grandes:</a:t>
            </a: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800" dirty="0">
                <a:solidFill>
                  <a:srgbClr val="191919"/>
                </a:solidFill>
              </a:rPr>
              <a:t>Datatran2024.csv </a:t>
            </a: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800" dirty="0">
                <a:solidFill>
                  <a:srgbClr val="191919"/>
                </a:solidFill>
              </a:rPr>
              <a:t>Datatran2025.csv</a:t>
            </a:r>
          </a:p>
          <a:p>
            <a:pPr lvl="0" algn="just">
              <a:lnSpc>
                <a:spcPct val="150000"/>
              </a:lnSpc>
            </a:pPr>
            <a:endParaRPr lang="pt-BR" sz="2800" dirty="0">
              <a:solidFill>
                <a:srgbClr val="191919"/>
              </a:solidFill>
            </a:endParaRPr>
          </a:p>
          <a:p>
            <a:pPr lvl="0" algn="just">
              <a:lnSpc>
                <a:spcPct val="150000"/>
              </a:lnSpc>
            </a:pPr>
            <a:r>
              <a:rPr lang="pt-BR" sz="2800" dirty="0">
                <a:solidFill>
                  <a:srgbClr val="191919"/>
                </a:solidFill>
              </a:rPr>
              <a:t>Junção dos arquivos (mais de X mil registros).</a:t>
            </a:r>
          </a:p>
          <a:p>
            <a:pPr lvl="0" algn="just">
              <a:lnSpc>
                <a:spcPct val="150000"/>
              </a:lnSpc>
            </a:pPr>
            <a:r>
              <a:rPr lang="pt-BR" sz="2800" dirty="0">
                <a:solidFill>
                  <a:srgbClr val="191919"/>
                </a:solidFill>
              </a:rPr>
              <a:t>Padronização de </a:t>
            </a:r>
            <a:r>
              <a:rPr lang="pt-BR" sz="2800" dirty="0" err="1">
                <a:solidFill>
                  <a:srgbClr val="191919"/>
                </a:solidFill>
              </a:rPr>
              <a:t>encoding</a:t>
            </a:r>
            <a:r>
              <a:rPr lang="pt-BR" sz="2800" dirty="0">
                <a:solidFill>
                  <a:srgbClr val="191919"/>
                </a:solidFill>
              </a:rPr>
              <a:t> e tratamento inicial.</a:t>
            </a:r>
          </a:p>
        </p:txBody>
      </p:sp>
      <p:pic>
        <p:nvPicPr>
          <p:cNvPr id="109" name="Google Shape;109;p14">
            <a:extLst>
              <a:ext uri="{FF2B5EF4-FFF2-40B4-BE49-F238E27FC236}">
                <a16:creationId xmlns:a16="http://schemas.microsoft.com/office/drawing/2014/main" id="{7DD350C5-12EF-EDD7-2512-B12119B63CC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078200" y="132331"/>
            <a:ext cx="1977483" cy="1684851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4">
            <a:extLst>
              <a:ext uri="{FF2B5EF4-FFF2-40B4-BE49-F238E27FC236}">
                <a16:creationId xmlns:a16="http://schemas.microsoft.com/office/drawing/2014/main" id="{6F05C856-7923-5810-8781-58BC7699D71E}"/>
              </a:ext>
            </a:extLst>
          </p:cNvPr>
          <p:cNvSpPr txBox="1"/>
          <p:nvPr/>
        </p:nvSpPr>
        <p:spPr>
          <a:xfrm>
            <a:off x="152400" y="9944100"/>
            <a:ext cx="6899312" cy="258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 dirty="0">
                <a:solidFill>
                  <a:srgbClr val="0C0C0C"/>
                </a:solidFill>
                <a:latin typeface="Arial"/>
                <a:ea typeface="Arial"/>
                <a:cs typeface="Arial"/>
                <a:sym typeface="Arial"/>
              </a:rPr>
              <a:t>BIGDATA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9139E15F-D6BC-CB9E-5AF7-1BA3F979694F}"/>
              </a:ext>
            </a:extLst>
          </p:cNvPr>
          <p:cNvSpPr/>
          <p:nvPr/>
        </p:nvSpPr>
        <p:spPr>
          <a:xfrm>
            <a:off x="732265" y="453072"/>
            <a:ext cx="8392041" cy="2308324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pt-BR" sz="7200" b="1" dirty="0">
                <a:ln w="0"/>
                <a:solidFill>
                  <a:srgbClr val="416D3F"/>
                </a:solidFill>
                <a:effectLst>
                  <a:outerShdw blurRad="50800" dist="38100" dir="10800000" algn="r" rotWithShape="0">
                    <a:prstClr val="black">
                      <a:alpha val="40000"/>
                    </a:prstClr>
                  </a:outerShdw>
                </a:effectLst>
              </a:rPr>
              <a:t>Etapa 1 </a:t>
            </a:r>
          </a:p>
          <a:p>
            <a:r>
              <a:rPr lang="pt-BR" sz="7200" b="1" dirty="0">
                <a:ln w="0"/>
                <a:solidFill>
                  <a:srgbClr val="416D3F"/>
                </a:solidFill>
                <a:effectLst>
                  <a:outerShdw blurRad="50800" dist="38100" dir="10800000" algn="r" rotWithShape="0">
                    <a:prstClr val="black">
                      <a:alpha val="40000"/>
                    </a:prstClr>
                  </a:outerShdw>
                </a:effectLst>
              </a:rPr>
              <a:t>Ingestão de Dados</a:t>
            </a:r>
            <a:endParaRPr lang="pt-BR" sz="7200" b="1" cap="none" spc="0" dirty="0">
              <a:ln w="0"/>
              <a:solidFill>
                <a:srgbClr val="416D3F"/>
              </a:solidFill>
              <a:effectLst>
                <a:outerShdw blurRad="50800" dist="38100" dir="10800000" algn="r" rotWithShape="0">
                  <a:prstClr val="black">
                    <a:alpha val="40000"/>
                  </a:prst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8391754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>
          <a:extLst>
            <a:ext uri="{FF2B5EF4-FFF2-40B4-BE49-F238E27FC236}">
              <a16:creationId xmlns:a16="http://schemas.microsoft.com/office/drawing/2014/main" id="{7BBE6E46-6AC2-9477-8196-9A01B9477F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4">
            <a:extLst>
              <a:ext uri="{FF2B5EF4-FFF2-40B4-BE49-F238E27FC236}">
                <a16:creationId xmlns:a16="http://schemas.microsoft.com/office/drawing/2014/main" id="{7A548116-5B36-F1A2-6F4D-4A8F6BE73D00}"/>
              </a:ext>
            </a:extLst>
          </p:cNvPr>
          <p:cNvSpPr txBox="1"/>
          <p:nvPr/>
        </p:nvSpPr>
        <p:spPr>
          <a:xfrm>
            <a:off x="1028700" y="3121094"/>
            <a:ext cx="14833600" cy="2585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800" dirty="0">
                <a:solidFill>
                  <a:srgbClr val="191919"/>
                </a:solidFill>
              </a:rPr>
              <a:t>Correção de Latitude e Longitude</a:t>
            </a: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800" dirty="0">
                <a:solidFill>
                  <a:srgbClr val="191919"/>
                </a:solidFill>
              </a:rPr>
              <a:t>Remoção de linhas sem coordenadas </a:t>
            </a: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800" dirty="0">
                <a:solidFill>
                  <a:srgbClr val="191919"/>
                </a:solidFill>
              </a:rPr>
              <a:t>Conversão de datas</a:t>
            </a: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800" dirty="0">
                <a:solidFill>
                  <a:srgbClr val="191919"/>
                </a:solidFill>
              </a:rPr>
              <a:t>Criação de Variáveis de tempo (ano  e mês)</a:t>
            </a:r>
          </a:p>
        </p:txBody>
      </p:sp>
      <p:pic>
        <p:nvPicPr>
          <p:cNvPr id="109" name="Google Shape;109;p14">
            <a:extLst>
              <a:ext uri="{FF2B5EF4-FFF2-40B4-BE49-F238E27FC236}">
                <a16:creationId xmlns:a16="http://schemas.microsoft.com/office/drawing/2014/main" id="{2A346356-A48E-E960-D90E-C1E53620FCF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078200" y="132331"/>
            <a:ext cx="1977483" cy="1684851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4">
            <a:extLst>
              <a:ext uri="{FF2B5EF4-FFF2-40B4-BE49-F238E27FC236}">
                <a16:creationId xmlns:a16="http://schemas.microsoft.com/office/drawing/2014/main" id="{37C6E8DE-597F-7E23-A765-D5E06E805D2A}"/>
              </a:ext>
            </a:extLst>
          </p:cNvPr>
          <p:cNvSpPr txBox="1"/>
          <p:nvPr/>
        </p:nvSpPr>
        <p:spPr>
          <a:xfrm>
            <a:off x="152400" y="9944100"/>
            <a:ext cx="6899312" cy="258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 dirty="0">
                <a:solidFill>
                  <a:srgbClr val="0C0C0C"/>
                </a:solidFill>
                <a:latin typeface="Arial"/>
                <a:ea typeface="Arial"/>
                <a:cs typeface="Arial"/>
                <a:sym typeface="Arial"/>
              </a:rPr>
              <a:t>BIGDATA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70B1A3DB-F0A7-2BC9-ED4D-8AD873A62239}"/>
              </a:ext>
            </a:extLst>
          </p:cNvPr>
          <p:cNvSpPr/>
          <p:nvPr/>
        </p:nvSpPr>
        <p:spPr>
          <a:xfrm>
            <a:off x="732265" y="453072"/>
            <a:ext cx="10751661" cy="2308324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pt-BR" sz="7200" b="1" dirty="0">
                <a:ln w="0"/>
                <a:solidFill>
                  <a:srgbClr val="416D3F"/>
                </a:solidFill>
                <a:effectLst>
                  <a:outerShdw blurRad="50800" dist="38100" dir="10800000" algn="r" rotWithShape="0">
                    <a:prstClr val="black">
                      <a:alpha val="40000"/>
                    </a:prstClr>
                  </a:outerShdw>
                </a:effectLst>
              </a:rPr>
              <a:t>Etapa 2 </a:t>
            </a:r>
          </a:p>
          <a:p>
            <a:r>
              <a:rPr lang="pt-BR" sz="7200" b="1" dirty="0">
                <a:ln w="0"/>
                <a:solidFill>
                  <a:srgbClr val="416D3F"/>
                </a:solidFill>
                <a:effectLst>
                  <a:outerShdw blurRad="50800" dist="38100" dir="10800000" algn="r" rotWithShape="0">
                    <a:prstClr val="black">
                      <a:alpha val="40000"/>
                    </a:prstClr>
                  </a:outerShdw>
                </a:effectLst>
              </a:rPr>
              <a:t>Limpeza e Refinamento</a:t>
            </a:r>
            <a:endParaRPr lang="pt-BR" sz="7200" b="1" cap="none" spc="0" dirty="0">
              <a:ln w="0"/>
              <a:solidFill>
                <a:srgbClr val="416D3F"/>
              </a:solidFill>
              <a:effectLst>
                <a:outerShdw blurRad="50800" dist="38100" dir="10800000" algn="r" rotWithShape="0">
                  <a:prstClr val="black">
                    <a:alpha val="40000"/>
                  </a:prst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4139524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>
          <a:extLst>
            <a:ext uri="{FF2B5EF4-FFF2-40B4-BE49-F238E27FC236}">
              <a16:creationId xmlns:a16="http://schemas.microsoft.com/office/drawing/2014/main" id="{96E42DBB-9394-3BEA-A735-4022D97C2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4">
            <a:extLst>
              <a:ext uri="{FF2B5EF4-FFF2-40B4-BE49-F238E27FC236}">
                <a16:creationId xmlns:a16="http://schemas.microsoft.com/office/drawing/2014/main" id="{368C6F5B-A7EC-89EF-D117-2A980A30720A}"/>
              </a:ext>
            </a:extLst>
          </p:cNvPr>
          <p:cNvSpPr txBox="1"/>
          <p:nvPr/>
        </p:nvSpPr>
        <p:spPr>
          <a:xfrm>
            <a:off x="1028700" y="3121094"/>
            <a:ext cx="14833600" cy="51706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just">
              <a:lnSpc>
                <a:spcPct val="150000"/>
              </a:lnSpc>
            </a:pPr>
            <a:r>
              <a:rPr lang="pt-BR" sz="2800" dirty="0">
                <a:solidFill>
                  <a:srgbClr val="191919"/>
                </a:solidFill>
              </a:rPr>
              <a:t>Criação de Features:</a:t>
            </a: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800" dirty="0">
                <a:solidFill>
                  <a:srgbClr val="191919"/>
                </a:solidFill>
              </a:rPr>
              <a:t>Ano</a:t>
            </a: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800" dirty="0">
                <a:solidFill>
                  <a:srgbClr val="191919"/>
                </a:solidFill>
              </a:rPr>
              <a:t>Mês</a:t>
            </a: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800" dirty="0">
                <a:solidFill>
                  <a:srgbClr val="191919"/>
                </a:solidFill>
              </a:rPr>
              <a:t>UF</a:t>
            </a: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800" dirty="0">
                <a:solidFill>
                  <a:srgbClr val="191919"/>
                </a:solidFill>
              </a:rPr>
              <a:t>Causa do acidente </a:t>
            </a: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800" dirty="0">
                <a:solidFill>
                  <a:srgbClr val="191919"/>
                </a:solidFill>
              </a:rPr>
              <a:t>Condição Meteorológica </a:t>
            </a: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800" dirty="0">
                <a:solidFill>
                  <a:srgbClr val="191919"/>
                </a:solidFill>
              </a:rPr>
              <a:t>Tipo de Pista</a:t>
            </a:r>
          </a:p>
          <a:p>
            <a:pPr lvl="0" algn="just">
              <a:lnSpc>
                <a:spcPct val="150000"/>
              </a:lnSpc>
            </a:pPr>
            <a:r>
              <a:rPr lang="pt-BR" sz="2800" dirty="0">
                <a:solidFill>
                  <a:srgbClr val="191919"/>
                </a:solidFill>
              </a:rPr>
              <a:t>Preparação dos dados para análise </a:t>
            </a:r>
            <a:r>
              <a:rPr lang="pt-BR" sz="2800" dirty="0"/>
              <a:t>estatística</a:t>
            </a:r>
            <a:r>
              <a:rPr lang="pt-BR" sz="2800" dirty="0">
                <a:solidFill>
                  <a:srgbClr val="191919"/>
                </a:solidFill>
              </a:rPr>
              <a:t> e ML.</a:t>
            </a:r>
          </a:p>
        </p:txBody>
      </p:sp>
      <p:pic>
        <p:nvPicPr>
          <p:cNvPr id="109" name="Google Shape;109;p14">
            <a:extLst>
              <a:ext uri="{FF2B5EF4-FFF2-40B4-BE49-F238E27FC236}">
                <a16:creationId xmlns:a16="http://schemas.microsoft.com/office/drawing/2014/main" id="{F9BA84E8-9F57-2788-47CE-BA88D22EDD7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078200" y="132331"/>
            <a:ext cx="1977483" cy="1684851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4">
            <a:extLst>
              <a:ext uri="{FF2B5EF4-FFF2-40B4-BE49-F238E27FC236}">
                <a16:creationId xmlns:a16="http://schemas.microsoft.com/office/drawing/2014/main" id="{94600D0C-39DA-57A8-78EA-001D2DCD8800}"/>
              </a:ext>
            </a:extLst>
          </p:cNvPr>
          <p:cNvSpPr txBox="1"/>
          <p:nvPr/>
        </p:nvSpPr>
        <p:spPr>
          <a:xfrm>
            <a:off x="152400" y="9944100"/>
            <a:ext cx="6899312" cy="258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 dirty="0">
                <a:solidFill>
                  <a:srgbClr val="0C0C0C"/>
                </a:solidFill>
                <a:latin typeface="Arial"/>
                <a:ea typeface="Arial"/>
                <a:cs typeface="Arial"/>
                <a:sym typeface="Arial"/>
              </a:rPr>
              <a:t>BIGDATA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D603CAB5-BFBE-66AC-E74A-95262B533F48}"/>
              </a:ext>
            </a:extLst>
          </p:cNvPr>
          <p:cNvSpPr/>
          <p:nvPr/>
        </p:nvSpPr>
        <p:spPr>
          <a:xfrm>
            <a:off x="732265" y="453072"/>
            <a:ext cx="10751661" cy="2308324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pt-BR" sz="7200" b="1" dirty="0">
                <a:ln w="0"/>
                <a:solidFill>
                  <a:srgbClr val="416D3F"/>
                </a:solidFill>
                <a:effectLst>
                  <a:outerShdw blurRad="50800" dist="38100" dir="10800000" algn="r" rotWithShape="0">
                    <a:prstClr val="black">
                      <a:alpha val="40000"/>
                    </a:prstClr>
                  </a:outerShdw>
                </a:effectLst>
              </a:rPr>
              <a:t>Etapa 3 </a:t>
            </a:r>
          </a:p>
          <a:p>
            <a:r>
              <a:rPr lang="pt-BR" sz="7200" b="1" dirty="0">
                <a:ln w="0"/>
                <a:solidFill>
                  <a:srgbClr val="416D3F"/>
                </a:solidFill>
                <a:effectLst>
                  <a:outerShdw blurRad="50800" dist="38100" dir="10800000" algn="r" rotWithShape="0">
                    <a:prstClr val="black">
                      <a:alpha val="40000"/>
                    </a:prstClr>
                  </a:outerShdw>
                </a:effectLst>
              </a:rPr>
              <a:t>Limpeza e Refinamento</a:t>
            </a:r>
            <a:endParaRPr lang="pt-BR" sz="7200" b="1" cap="none" spc="0" dirty="0">
              <a:ln w="0"/>
              <a:solidFill>
                <a:srgbClr val="416D3F"/>
              </a:solidFill>
              <a:effectLst>
                <a:outerShdw blurRad="50800" dist="38100" dir="10800000" algn="r" rotWithShape="0">
                  <a:prstClr val="black">
                    <a:alpha val="40000"/>
                  </a:prst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909309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>
          <a:extLst>
            <a:ext uri="{FF2B5EF4-FFF2-40B4-BE49-F238E27FC236}">
              <a16:creationId xmlns:a16="http://schemas.microsoft.com/office/drawing/2014/main" id="{CF1931FA-AE8E-A6B2-210D-8CFE4DC8A6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Google Shape;109;p14">
            <a:extLst>
              <a:ext uri="{FF2B5EF4-FFF2-40B4-BE49-F238E27FC236}">
                <a16:creationId xmlns:a16="http://schemas.microsoft.com/office/drawing/2014/main" id="{2D421E54-CE1C-6169-721A-C20989D1319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078200" y="132331"/>
            <a:ext cx="1977483" cy="1684851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4">
            <a:extLst>
              <a:ext uri="{FF2B5EF4-FFF2-40B4-BE49-F238E27FC236}">
                <a16:creationId xmlns:a16="http://schemas.microsoft.com/office/drawing/2014/main" id="{CE2FB655-4455-57F1-A769-3DC62694CC7E}"/>
              </a:ext>
            </a:extLst>
          </p:cNvPr>
          <p:cNvSpPr txBox="1"/>
          <p:nvPr/>
        </p:nvSpPr>
        <p:spPr>
          <a:xfrm>
            <a:off x="152400" y="9944100"/>
            <a:ext cx="6899312" cy="258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 dirty="0">
                <a:solidFill>
                  <a:srgbClr val="0C0C0C"/>
                </a:solidFill>
                <a:latin typeface="Arial"/>
                <a:ea typeface="Arial"/>
                <a:cs typeface="Arial"/>
                <a:sym typeface="Arial"/>
              </a:rPr>
              <a:t>BIGDATA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9573357F-9870-1DE1-EEEB-56922C17A870}"/>
              </a:ext>
            </a:extLst>
          </p:cNvPr>
          <p:cNvSpPr/>
          <p:nvPr/>
        </p:nvSpPr>
        <p:spPr>
          <a:xfrm>
            <a:off x="732265" y="453072"/>
            <a:ext cx="11777583" cy="120032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pt-BR" sz="7200" b="1" dirty="0">
                <a:ln w="0"/>
                <a:solidFill>
                  <a:srgbClr val="416D3F"/>
                </a:solidFill>
                <a:effectLst>
                  <a:outerShdw blurRad="50800" dist="38100" dir="10800000" algn="r" rotWithShape="0">
                    <a:prstClr val="black">
                      <a:alpha val="40000"/>
                    </a:prstClr>
                  </a:outerShdw>
                </a:effectLst>
              </a:rPr>
              <a:t>Acidentes por Estado (UF)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DC6C39C3-FE59-067B-1A06-93CCD02707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7778" y="1920389"/>
            <a:ext cx="12892443" cy="6446222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EB01B4D7-9A13-BD9C-9D32-7CF5C2037D2B}"/>
              </a:ext>
            </a:extLst>
          </p:cNvPr>
          <p:cNvSpPr txBox="1"/>
          <p:nvPr/>
        </p:nvSpPr>
        <p:spPr>
          <a:xfrm>
            <a:off x="2697778" y="8366611"/>
            <a:ext cx="939815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dirty="0"/>
              <a:t>Estado com maior Incidência: Minas Gerais (MG)</a:t>
            </a:r>
          </a:p>
          <a:p>
            <a:r>
              <a:rPr lang="pt-BR" sz="2800" dirty="0"/>
              <a:t>Estado com menos Incidência: Roraima (RR)</a:t>
            </a:r>
          </a:p>
        </p:txBody>
      </p:sp>
    </p:spTree>
    <p:extLst>
      <p:ext uri="{BB962C8B-B14F-4D97-AF65-F5344CB8AC3E}">
        <p14:creationId xmlns:p14="http://schemas.microsoft.com/office/powerpoint/2010/main" val="20977788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>
          <a:extLst>
            <a:ext uri="{FF2B5EF4-FFF2-40B4-BE49-F238E27FC236}">
              <a16:creationId xmlns:a16="http://schemas.microsoft.com/office/drawing/2014/main" id="{E4284663-063E-9F9A-D4B6-8A688D484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Google Shape;109;p14">
            <a:extLst>
              <a:ext uri="{FF2B5EF4-FFF2-40B4-BE49-F238E27FC236}">
                <a16:creationId xmlns:a16="http://schemas.microsoft.com/office/drawing/2014/main" id="{AE3E4B93-E5C7-B46B-5955-5661D0E0AB6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078200" y="132331"/>
            <a:ext cx="1977483" cy="1684851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4">
            <a:extLst>
              <a:ext uri="{FF2B5EF4-FFF2-40B4-BE49-F238E27FC236}">
                <a16:creationId xmlns:a16="http://schemas.microsoft.com/office/drawing/2014/main" id="{58CFF57C-D0DF-7C45-B601-3CC7C20E8B30}"/>
              </a:ext>
            </a:extLst>
          </p:cNvPr>
          <p:cNvSpPr txBox="1"/>
          <p:nvPr/>
        </p:nvSpPr>
        <p:spPr>
          <a:xfrm>
            <a:off x="152400" y="9944100"/>
            <a:ext cx="6899312" cy="258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 dirty="0">
                <a:solidFill>
                  <a:srgbClr val="0C0C0C"/>
                </a:solidFill>
                <a:latin typeface="Arial"/>
                <a:ea typeface="Arial"/>
                <a:cs typeface="Arial"/>
                <a:sym typeface="Arial"/>
              </a:rPr>
              <a:t>BIGDATA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A8843773-DB32-8316-62C1-CD1787EAF6AE}"/>
              </a:ext>
            </a:extLst>
          </p:cNvPr>
          <p:cNvSpPr/>
          <p:nvPr/>
        </p:nvSpPr>
        <p:spPr>
          <a:xfrm>
            <a:off x="732265" y="453072"/>
            <a:ext cx="6186309" cy="120032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pt-BR" sz="7200" b="1" dirty="0">
                <a:ln w="0"/>
                <a:solidFill>
                  <a:srgbClr val="416D3F"/>
                </a:solidFill>
                <a:effectLst>
                  <a:outerShdw blurRad="50800" dist="38100" dir="10800000" algn="r" rotWithShape="0">
                    <a:prstClr val="black">
                      <a:alpha val="40000"/>
                    </a:prstClr>
                  </a:outerShdw>
                </a:effectLst>
              </a:rPr>
              <a:t>Top 10 Causa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74D5D409-B9E2-9D01-70E4-DCF2651EDC2D}"/>
              </a:ext>
            </a:extLst>
          </p:cNvPr>
          <p:cNvSpPr txBox="1"/>
          <p:nvPr/>
        </p:nvSpPr>
        <p:spPr>
          <a:xfrm>
            <a:off x="2697778" y="8366611"/>
            <a:ext cx="939815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dirty="0"/>
              <a:t>Causas Mais Frequentes: Ausência de reação do condutor e Reação tardia ou ineficiente do condutor.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510948A9-9EC7-4025-A485-5CC96694B2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7778" y="1817182"/>
            <a:ext cx="12801625" cy="6400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02898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>
          <a:extLst>
            <a:ext uri="{FF2B5EF4-FFF2-40B4-BE49-F238E27FC236}">
              <a16:creationId xmlns:a16="http://schemas.microsoft.com/office/drawing/2014/main" id="{8366E242-ACC7-9E32-50BA-EE60E80C7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Google Shape;109;p14">
            <a:extLst>
              <a:ext uri="{FF2B5EF4-FFF2-40B4-BE49-F238E27FC236}">
                <a16:creationId xmlns:a16="http://schemas.microsoft.com/office/drawing/2014/main" id="{3B4F485A-8A53-DE61-C29C-A4170B292F5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078200" y="132331"/>
            <a:ext cx="1977483" cy="1684851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4">
            <a:extLst>
              <a:ext uri="{FF2B5EF4-FFF2-40B4-BE49-F238E27FC236}">
                <a16:creationId xmlns:a16="http://schemas.microsoft.com/office/drawing/2014/main" id="{939B9993-3BEE-054C-80FC-A3A3D5F2E29B}"/>
              </a:ext>
            </a:extLst>
          </p:cNvPr>
          <p:cNvSpPr txBox="1"/>
          <p:nvPr/>
        </p:nvSpPr>
        <p:spPr>
          <a:xfrm>
            <a:off x="152400" y="9944100"/>
            <a:ext cx="6899312" cy="258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 dirty="0">
                <a:solidFill>
                  <a:srgbClr val="0C0C0C"/>
                </a:solidFill>
                <a:latin typeface="Arial"/>
                <a:ea typeface="Arial"/>
                <a:cs typeface="Arial"/>
                <a:sym typeface="Arial"/>
              </a:rPr>
              <a:t>BIGDATA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09091DEF-2F4A-28B7-A871-5881D3291AB9}"/>
              </a:ext>
            </a:extLst>
          </p:cNvPr>
          <p:cNvSpPr/>
          <p:nvPr/>
        </p:nvSpPr>
        <p:spPr>
          <a:xfrm>
            <a:off x="732265" y="453072"/>
            <a:ext cx="11777583" cy="120032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pt-BR" sz="7200" b="1" dirty="0">
                <a:ln w="0"/>
                <a:solidFill>
                  <a:srgbClr val="416D3F"/>
                </a:solidFill>
                <a:effectLst>
                  <a:outerShdw blurRad="50800" dist="38100" dir="10800000" algn="r" rotWithShape="0">
                    <a:prstClr val="black">
                      <a:alpha val="40000"/>
                    </a:prstClr>
                  </a:outerShdw>
                </a:effectLst>
              </a:rPr>
              <a:t>Acidentes por Fase do Dia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243D0ACA-2874-671F-9415-EE5BD02AF440}"/>
              </a:ext>
            </a:extLst>
          </p:cNvPr>
          <p:cNvSpPr txBox="1"/>
          <p:nvPr/>
        </p:nvSpPr>
        <p:spPr>
          <a:xfrm>
            <a:off x="2697778" y="8366611"/>
            <a:ext cx="93981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dirty="0"/>
              <a:t>Geralmente, maior concentração: Pleno dia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BFAF30AD-6920-1071-7061-D7983DF0E4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7778" y="2031804"/>
            <a:ext cx="10558011" cy="6334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40355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>
          <a:extLst>
            <a:ext uri="{FF2B5EF4-FFF2-40B4-BE49-F238E27FC236}">
              <a16:creationId xmlns:a16="http://schemas.microsoft.com/office/drawing/2014/main" id="{D6B830CB-7357-9FC7-A319-151518F32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Google Shape;109;p14">
            <a:extLst>
              <a:ext uri="{FF2B5EF4-FFF2-40B4-BE49-F238E27FC236}">
                <a16:creationId xmlns:a16="http://schemas.microsoft.com/office/drawing/2014/main" id="{0DA1CDDD-1184-CE96-5442-2E48CBAB308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078200" y="132331"/>
            <a:ext cx="1977483" cy="1684851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4">
            <a:extLst>
              <a:ext uri="{FF2B5EF4-FFF2-40B4-BE49-F238E27FC236}">
                <a16:creationId xmlns:a16="http://schemas.microsoft.com/office/drawing/2014/main" id="{A04763E8-93EF-6CC9-671C-D330A15D3BCF}"/>
              </a:ext>
            </a:extLst>
          </p:cNvPr>
          <p:cNvSpPr txBox="1"/>
          <p:nvPr/>
        </p:nvSpPr>
        <p:spPr>
          <a:xfrm>
            <a:off x="152400" y="9944100"/>
            <a:ext cx="6899312" cy="258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 dirty="0">
                <a:solidFill>
                  <a:srgbClr val="0C0C0C"/>
                </a:solidFill>
                <a:latin typeface="Arial"/>
                <a:ea typeface="Arial"/>
                <a:cs typeface="Arial"/>
                <a:sym typeface="Arial"/>
              </a:rPr>
              <a:t>BIGDATA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E7ADA8D5-88C6-980A-C0A1-28A46FC9324E}"/>
              </a:ext>
            </a:extLst>
          </p:cNvPr>
          <p:cNvSpPr/>
          <p:nvPr/>
        </p:nvSpPr>
        <p:spPr>
          <a:xfrm>
            <a:off x="732265" y="453072"/>
            <a:ext cx="7622600" cy="120032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pt-BR" sz="7200" b="1" dirty="0">
                <a:ln w="0"/>
                <a:solidFill>
                  <a:srgbClr val="416D3F"/>
                </a:solidFill>
                <a:effectLst>
                  <a:outerShdw blurRad="50800" dist="38100" dir="10800000" algn="r" rotWithShape="0">
                    <a:prstClr val="black">
                      <a:alpha val="40000"/>
                    </a:prstClr>
                  </a:outerShdw>
                </a:effectLst>
              </a:rPr>
              <a:t>Mortos x Feridos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6935ED40-635C-D821-723E-49315426277A}"/>
              </a:ext>
            </a:extLst>
          </p:cNvPr>
          <p:cNvSpPr txBox="1"/>
          <p:nvPr/>
        </p:nvSpPr>
        <p:spPr>
          <a:xfrm>
            <a:off x="2697778" y="8031252"/>
            <a:ext cx="939815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dirty="0"/>
              <a:t>Comparação entre:</a:t>
            </a:r>
          </a:p>
          <a:p>
            <a:r>
              <a:rPr lang="pt-BR" sz="2800" dirty="0"/>
              <a:t>Mortes</a:t>
            </a:r>
          </a:p>
          <a:p>
            <a:r>
              <a:rPr lang="pt-BR" sz="2800" dirty="0"/>
              <a:t>Feridos graves</a:t>
            </a:r>
          </a:p>
          <a:p>
            <a:r>
              <a:rPr lang="pt-BR" sz="2800" dirty="0"/>
              <a:t>Feridos leves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81C40A8-40F3-5C71-74F0-4E7C8F40B6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7778" y="1988759"/>
            <a:ext cx="8056658" cy="6042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8184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>
          <a:extLst>
            <a:ext uri="{FF2B5EF4-FFF2-40B4-BE49-F238E27FC236}">
              <a16:creationId xmlns:a16="http://schemas.microsoft.com/office/drawing/2014/main" id="{F0AD588B-0519-7F1D-2341-9B31FABE3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Google Shape;109;p14">
            <a:extLst>
              <a:ext uri="{FF2B5EF4-FFF2-40B4-BE49-F238E27FC236}">
                <a16:creationId xmlns:a16="http://schemas.microsoft.com/office/drawing/2014/main" id="{DD945B32-7403-94C1-E291-4F28462D0B8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078200" y="132331"/>
            <a:ext cx="1977483" cy="1684851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4">
            <a:extLst>
              <a:ext uri="{FF2B5EF4-FFF2-40B4-BE49-F238E27FC236}">
                <a16:creationId xmlns:a16="http://schemas.microsoft.com/office/drawing/2014/main" id="{99F5DC6B-8D0E-C753-43EF-C42B7180A139}"/>
              </a:ext>
            </a:extLst>
          </p:cNvPr>
          <p:cNvSpPr txBox="1"/>
          <p:nvPr/>
        </p:nvSpPr>
        <p:spPr>
          <a:xfrm>
            <a:off x="152400" y="9944100"/>
            <a:ext cx="6899312" cy="258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 dirty="0">
                <a:solidFill>
                  <a:srgbClr val="0C0C0C"/>
                </a:solidFill>
                <a:latin typeface="Arial"/>
                <a:ea typeface="Arial"/>
                <a:cs typeface="Arial"/>
                <a:sym typeface="Arial"/>
              </a:rPr>
              <a:t>BIGDATA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E78814D4-F417-0EF5-198A-DD1B8A27596B}"/>
              </a:ext>
            </a:extLst>
          </p:cNvPr>
          <p:cNvSpPr/>
          <p:nvPr/>
        </p:nvSpPr>
        <p:spPr>
          <a:xfrm>
            <a:off x="732265" y="453072"/>
            <a:ext cx="12085360" cy="120032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pt-BR" sz="7200" b="1" dirty="0">
                <a:ln w="0"/>
                <a:solidFill>
                  <a:srgbClr val="416D3F"/>
                </a:solidFill>
                <a:effectLst>
                  <a:outerShdw blurRad="50800" dist="38100" dir="10800000" algn="r" rotWithShape="0">
                    <a:prstClr val="black">
                      <a:alpha val="40000"/>
                    </a:prstClr>
                  </a:outerShdw>
                </a:effectLst>
              </a:rPr>
              <a:t>Sazonalidade (2024 x 2025)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9861CC4-E592-169F-AB48-0C2E741DBE03}"/>
              </a:ext>
            </a:extLst>
          </p:cNvPr>
          <p:cNvSpPr txBox="1"/>
          <p:nvPr/>
        </p:nvSpPr>
        <p:spPr>
          <a:xfrm>
            <a:off x="2697778" y="8031252"/>
            <a:ext cx="939815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dirty="0"/>
              <a:t>Meses com maior incidência: </a:t>
            </a:r>
          </a:p>
          <a:p>
            <a:r>
              <a:rPr lang="pt-BR" sz="2800" dirty="0"/>
              <a:t>Final do Ano sempre tem um pico de Acidentes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1137EAC3-90B0-CEED-C55C-159F74B38B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7778" y="1750367"/>
            <a:ext cx="12801625" cy="6400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25332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>
          <a:extLst>
            <a:ext uri="{FF2B5EF4-FFF2-40B4-BE49-F238E27FC236}">
              <a16:creationId xmlns:a16="http://schemas.microsoft.com/office/drawing/2014/main" id="{8F85C40D-A628-1A27-8BA3-C1282F2E2B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Google Shape;109;p14">
            <a:extLst>
              <a:ext uri="{FF2B5EF4-FFF2-40B4-BE49-F238E27FC236}">
                <a16:creationId xmlns:a16="http://schemas.microsoft.com/office/drawing/2014/main" id="{5E0FB05E-F7E2-A11A-0224-AA020B40CD3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078200" y="132331"/>
            <a:ext cx="1977483" cy="1684851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4">
            <a:extLst>
              <a:ext uri="{FF2B5EF4-FFF2-40B4-BE49-F238E27FC236}">
                <a16:creationId xmlns:a16="http://schemas.microsoft.com/office/drawing/2014/main" id="{5193D2D2-BE53-8298-3F28-876DA0D5D58A}"/>
              </a:ext>
            </a:extLst>
          </p:cNvPr>
          <p:cNvSpPr txBox="1"/>
          <p:nvPr/>
        </p:nvSpPr>
        <p:spPr>
          <a:xfrm>
            <a:off x="152400" y="9944100"/>
            <a:ext cx="6899312" cy="258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 dirty="0">
                <a:solidFill>
                  <a:srgbClr val="0C0C0C"/>
                </a:solidFill>
                <a:latin typeface="Arial"/>
                <a:ea typeface="Arial"/>
                <a:cs typeface="Arial"/>
                <a:sym typeface="Arial"/>
              </a:rPr>
              <a:t>BIGDATA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FA104103-0F10-0B47-3419-5023EC1C9A2A}"/>
              </a:ext>
            </a:extLst>
          </p:cNvPr>
          <p:cNvSpPr/>
          <p:nvPr/>
        </p:nvSpPr>
        <p:spPr>
          <a:xfrm>
            <a:off x="732265" y="453072"/>
            <a:ext cx="16445528" cy="120032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pt-BR" sz="7200" b="1" dirty="0">
                <a:ln w="0"/>
                <a:solidFill>
                  <a:srgbClr val="416D3F"/>
                </a:solidFill>
                <a:effectLst>
                  <a:outerShdw blurRad="50800" dist="38100" dir="10800000" algn="r" rotWithShape="0">
                    <a:prstClr val="black">
                      <a:alpha val="40000"/>
                    </a:prstClr>
                  </a:outerShdw>
                </a:effectLst>
              </a:rPr>
              <a:t>Mapa de Calor (Brasil)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2576F01B-655B-8A4B-8893-12F1CC7BDF51}"/>
              </a:ext>
            </a:extLst>
          </p:cNvPr>
          <p:cNvSpPr txBox="1"/>
          <p:nvPr/>
        </p:nvSpPr>
        <p:spPr>
          <a:xfrm>
            <a:off x="2697778" y="8031252"/>
            <a:ext cx="939815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dirty="0"/>
              <a:t>Meses com maior incidência: </a:t>
            </a:r>
          </a:p>
          <a:p>
            <a:r>
              <a:rPr lang="pt-BR" sz="2800" dirty="0"/>
              <a:t>Final do Ano sempre tem um pico de Acidentes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03F8FCBD-5819-4A09-73DB-1EEC21C8DD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7778" y="2107479"/>
            <a:ext cx="11527787" cy="5469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9536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1" name="Google Shape;211;p2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3252" y="-1"/>
            <a:ext cx="18274748" cy="10303565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0"/>
          <p:cNvSpPr txBox="1"/>
          <p:nvPr/>
        </p:nvSpPr>
        <p:spPr>
          <a:xfrm>
            <a:off x="-2743200" y="3651521"/>
            <a:ext cx="13002784" cy="1218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00" b="1" u="none" dirty="0">
                <a:solidFill>
                  <a:srgbClr val="416D3F"/>
                </a:solidFill>
                <a:latin typeface="Arial"/>
                <a:ea typeface="Arial"/>
                <a:cs typeface="Arial"/>
                <a:sym typeface="Arial"/>
              </a:rPr>
              <a:t>Dúvidas?</a:t>
            </a:r>
            <a:endParaRPr sz="8800" b="1" u="none" dirty="0">
              <a:solidFill>
                <a:srgbClr val="416D3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20"/>
          <p:cNvSpPr txBox="1"/>
          <p:nvPr/>
        </p:nvSpPr>
        <p:spPr>
          <a:xfrm>
            <a:off x="187288" y="9954692"/>
            <a:ext cx="6899312" cy="258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INTRODUÇÃO A ENGENHARIA DE SOFTWARE</a:t>
            </a:r>
            <a:endParaRPr sz="1400" u="none" dirty="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4" name="Google Shape;214;p2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6078200" y="132331"/>
            <a:ext cx="1977483" cy="16848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162</TotalTime>
  <Words>327</Words>
  <Application>Microsoft Office PowerPoint</Application>
  <PresentationFormat>Personalizar</PresentationFormat>
  <Paragraphs>82</Paragraphs>
  <Slides>13</Slides>
  <Notes>13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13</vt:i4>
      </vt:variant>
    </vt:vector>
  </HeadingPairs>
  <TitlesOfParts>
    <vt:vector size="17" baseType="lpstr">
      <vt:lpstr>Calibri</vt:lpstr>
      <vt:lpstr>Arial</vt:lpstr>
      <vt:lpstr>Arial Black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cp:lastModifiedBy>Nathan Mariotto</cp:lastModifiedBy>
  <cp:revision>15</cp:revision>
  <dcterms:modified xsi:type="dcterms:W3CDTF">2025-11-25T00:42:40Z</dcterms:modified>
</cp:coreProperties>
</file>