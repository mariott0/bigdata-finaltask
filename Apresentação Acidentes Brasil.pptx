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63" r:id="rId18"/>
  </p:sldIdLst>
  <p:sldSz cx="18288000" cy="10287000"/>
  <p:notesSz cx="6858000" cy="9144000"/>
  <p:embeddedFontLst>
    <p:embeddedFont>
      <p:font typeface="Arial Black" panose="020B0A04020102020204" pitchFamily="34" charset="0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6D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EDF94-A241-420E-A2ED-F80FA9455F3E}" v="431" dt="2024-03-26T00:14:41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92"/>
  </p:normalViewPr>
  <p:slideViewPr>
    <p:cSldViewPr snapToGrid="0">
      <p:cViewPr varScale="1">
        <p:scale>
          <a:sx n="68" d="100"/>
          <a:sy n="68" d="100"/>
        </p:scale>
        <p:origin x="89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Dartora" userId="f7cc721436d0444a" providerId="LiveId" clId="{ACCEDF94-A241-420E-A2ED-F80FA9455F3E}"/>
    <pc:docChg chg="addSld modSld">
      <pc:chgData name="Lucas Dartora" userId="f7cc721436d0444a" providerId="LiveId" clId="{ACCEDF94-A241-420E-A2ED-F80FA9455F3E}" dt="2024-03-26T00:14:41.472" v="489" actId="20577"/>
      <pc:docMkLst>
        <pc:docMk/>
      </pc:docMkLst>
      <pc:sldChg chg="modSp mod">
        <pc:chgData name="Lucas Dartora" userId="f7cc721436d0444a" providerId="LiveId" clId="{ACCEDF94-A241-420E-A2ED-F80FA9455F3E}" dt="2024-03-26T00:07:54.064" v="7" actId="20577"/>
        <pc:sldMkLst>
          <pc:docMk/>
          <pc:sldMk cId="0" sldId="257"/>
        </pc:sldMkLst>
        <pc:spChg chg="mod">
          <ac:chgData name="Lucas Dartora" userId="f7cc721436d0444a" providerId="LiveId" clId="{ACCEDF94-A241-420E-A2ED-F80FA9455F3E}" dt="2024-03-26T00:07:54.064" v="7" actId="20577"/>
          <ac:spMkLst>
            <pc:docMk/>
            <pc:sldMk cId="0" sldId="257"/>
            <ac:spMk id="11" creationId="{00000000-0000-0000-0000-000000000000}"/>
          </ac:spMkLst>
        </pc:spChg>
      </pc:sldChg>
      <pc:sldChg chg="modSp add mod">
        <pc:chgData name="Lucas Dartora" userId="f7cc721436d0444a" providerId="LiveId" clId="{ACCEDF94-A241-420E-A2ED-F80FA9455F3E}" dt="2024-03-26T00:08:17.226" v="58" actId="20577"/>
        <pc:sldMkLst>
          <pc:docMk/>
          <pc:sldMk cId="3056300743" sldId="264"/>
        </pc:sldMkLst>
        <pc:spChg chg="mod">
          <ac:chgData name="Lucas Dartora" userId="f7cc721436d0444a" providerId="LiveId" clId="{ACCEDF94-A241-420E-A2ED-F80FA9455F3E}" dt="2024-03-26T00:08:04.371" v="30" actId="20577"/>
          <ac:spMkLst>
            <pc:docMk/>
            <pc:sldMk cId="3056300743" sldId="264"/>
            <ac:spMk id="11" creationId="{00000000-0000-0000-0000-000000000000}"/>
          </ac:spMkLst>
        </pc:spChg>
        <pc:spChg chg="mod">
          <ac:chgData name="Lucas Dartora" userId="f7cc721436d0444a" providerId="LiveId" clId="{ACCEDF94-A241-420E-A2ED-F80FA9455F3E}" dt="2024-03-26T00:08:17.226" v="58" actId="20577"/>
          <ac:spMkLst>
            <pc:docMk/>
            <pc:sldMk cId="3056300743" sldId="264"/>
            <ac:spMk id="106" creationId="{00000000-0000-0000-0000-000000000000}"/>
          </ac:spMkLst>
        </pc:spChg>
      </pc:sldChg>
      <pc:sldChg chg="modSp add mod">
        <pc:chgData name="Lucas Dartora" userId="f7cc721436d0444a" providerId="LiveId" clId="{ACCEDF94-A241-420E-A2ED-F80FA9455F3E}" dt="2024-03-26T00:14:41.472" v="489" actId="20577"/>
        <pc:sldMkLst>
          <pc:docMk/>
          <pc:sldMk cId="1918724868" sldId="265"/>
        </pc:sldMkLst>
        <pc:spChg chg="mod">
          <ac:chgData name="Lucas Dartora" userId="f7cc721436d0444a" providerId="LiveId" clId="{ACCEDF94-A241-420E-A2ED-F80FA9455F3E}" dt="2024-03-26T00:11:12.833" v="485" actId="20577"/>
          <ac:spMkLst>
            <pc:docMk/>
            <pc:sldMk cId="1918724868" sldId="265"/>
            <ac:spMk id="10" creationId="{00000000-0000-0000-0000-000000000000}"/>
          </ac:spMkLst>
        </pc:spChg>
        <pc:spChg chg="mod">
          <ac:chgData name="Lucas Dartora" userId="f7cc721436d0444a" providerId="LiveId" clId="{ACCEDF94-A241-420E-A2ED-F80FA9455F3E}" dt="2024-03-26T00:09:22.008" v="87" actId="20577"/>
          <ac:spMkLst>
            <pc:docMk/>
            <pc:sldMk cId="1918724868" sldId="265"/>
            <ac:spMk id="11" creationId="{00000000-0000-0000-0000-000000000000}"/>
          </ac:spMkLst>
        </pc:spChg>
        <pc:spChg chg="mod">
          <ac:chgData name="Lucas Dartora" userId="f7cc721436d0444a" providerId="LiveId" clId="{ACCEDF94-A241-420E-A2ED-F80FA9455F3E}" dt="2024-03-26T00:14:41.472" v="489" actId="20577"/>
          <ac:spMkLst>
            <pc:docMk/>
            <pc:sldMk cId="1918724868" sldId="265"/>
            <ac:spMk id="10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483461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7068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3063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361A9CE0-7E81-6D24-FE61-116A66B20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3134229B-3929-49C5-C9B7-0DDFCC2D35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612DB8A8-203B-EC83-6C95-CF548433E3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8056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6C4B7E6D-A9FA-4A10-880F-CFA13E496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65DFD73B-5B0A-F9C5-B196-CDF2C86A2D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4E571F2A-EA47-F2E7-2857-4C837B3D39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0307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D9E9D1B4-297C-740F-204D-E94D851BA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ACC5FACC-1A11-5B8C-2590-79DC566D22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2E41F53D-7381-9D27-9C94-777E7555D1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4857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20D7CA06-885E-AA32-A1BE-DC774E349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53DA1C9D-7205-BAAB-5627-B13136153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2449599F-6509-0493-3629-DCA5F93DB0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1973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241FC343-B9BE-E87A-D6C2-B03D78F86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3929B020-2284-C810-B53A-139D16E596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A964B1A0-6980-3DD5-21CF-24FDA70B17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48315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53771F41-4C67-0E7C-9224-949E35DC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3EF40F96-5E9D-055D-6E6D-3E54837167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BB210BA0-F7F0-6CBA-A9C0-E781F7BF22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163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5ECFFE08-A852-FA85-DD84-65375B91E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C82F2015-BF7C-8E8C-CE26-2601007282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F3EC06D7-C852-8DDF-5449-8F33BB8712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9499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09F102A2-3E1F-64E6-594C-359F23FC0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F202EB54-E6BC-595E-F35C-773D828BF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4023AE58-FCBF-0982-0D99-0D0120E6A6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6447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D4E42D50-0664-D3F5-795B-DF0B7B81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5706D329-A59D-CE51-D4A7-2DB04171C5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3D0C0593-E03A-B8AA-72F4-651E1A21A2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363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10514007-805E-9D65-DB6F-A150722A2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3E2B0DC2-9A63-A7DA-1C01-DAFC1D054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CF5E73B5-3CBF-E8BE-8FA5-B251A8C6E1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53279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1A1104A7-9CF2-7CCD-BAC2-F6803E794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85BA895D-0520-97ED-9CD8-673F1A2058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556E12C3-3D19-640F-8234-6C847B7E55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9926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2D64E877-2D15-0018-4998-CFB673948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3C3651CF-A762-F8AA-D339-98077EB8C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2612CDDC-1A50-2209-4EF3-E9656F0F11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20799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76B3FEAE-C505-2697-00AB-3EC7E3760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C2579595-21DF-F00E-EFF9-371FEFB109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5BF80362-EC10-535B-DC28-A4DF7E5BCB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18818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B2223FCC-35E1-B38E-4331-47069ACD6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668F87F3-B2E9-06B9-7D55-80065FD517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5DE96ADD-5CCC-A805-4738-867E06C933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90200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0655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/>
        </p:nvSpPr>
        <p:spPr>
          <a:xfrm>
            <a:off x="1212112" y="2961160"/>
            <a:ext cx="14747357" cy="1674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64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 dirty="0">
                <a:solidFill>
                  <a:srgbClr val="19191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Engenharia de Software</a:t>
            </a:r>
            <a:endParaRPr sz="8000" b="1" i="0" u="none" strike="noStrike" cap="none" dirty="0">
              <a:solidFill>
                <a:srgbClr val="19191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891879" y="5143500"/>
            <a:ext cx="10394004" cy="1252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 dirty="0">
                <a:solidFill>
                  <a:srgbClr val="191919"/>
                </a:solidFill>
                <a:latin typeface="Arial Black"/>
                <a:ea typeface="Arial Black"/>
                <a:cs typeface="Arial Black"/>
                <a:sym typeface="Arial Black"/>
              </a:rPr>
              <a:t>Análise de Acidentes de Trânsito no Brasil com Big Data(2024–2025)</a:t>
            </a:r>
            <a:endParaRPr lang="en-US" sz="3200" b="0" i="0" u="none" strike="noStrike" cap="none" dirty="0">
              <a:solidFill>
                <a:srgbClr val="191919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5" name="Google Shape;95;p13"/>
          <p:cNvSpPr txBox="1"/>
          <p:nvPr/>
        </p:nvSpPr>
        <p:spPr>
          <a:xfrm rot="5400000">
            <a:off x="14663205" y="5711877"/>
            <a:ext cx="6553198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BIGDATA</a:t>
            </a:r>
            <a:endParaRPr sz="16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67564" y="187896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93;p13"/>
          <p:cNvSpPr txBox="1"/>
          <p:nvPr/>
        </p:nvSpPr>
        <p:spPr>
          <a:xfrm>
            <a:off x="4715866" y="6445800"/>
            <a:ext cx="6746031" cy="417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91919"/>
                </a:solidFill>
                <a:latin typeface="+mn-lt"/>
                <a:ea typeface="Arial Black"/>
                <a:cs typeface="Arial Black"/>
                <a:sym typeface="Arial Black"/>
              </a:rPr>
              <a:t>Nathan Henrique Mariotto Ritz</a:t>
            </a:r>
            <a:endParaRPr sz="2400" b="1" i="0" u="none" strike="noStrike" cap="none" dirty="0">
              <a:solidFill>
                <a:srgbClr val="191919"/>
              </a:solidFill>
              <a:latin typeface="+mn-lt"/>
              <a:ea typeface="Arial Black"/>
              <a:cs typeface="Arial Black"/>
              <a:sym typeface="Arial Black"/>
            </a:endParaRPr>
          </a:p>
        </p:txBody>
      </p:sp>
      <p:sp>
        <p:nvSpPr>
          <p:cNvPr id="17" name="Google Shape;93;p13"/>
          <p:cNvSpPr txBox="1"/>
          <p:nvPr/>
        </p:nvSpPr>
        <p:spPr>
          <a:xfrm>
            <a:off x="4850545" y="9212501"/>
            <a:ext cx="6746031" cy="347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1919"/>
                </a:solidFill>
                <a:latin typeface="+mn-lt"/>
                <a:ea typeface="Arial Black"/>
                <a:cs typeface="Arial Black"/>
                <a:sym typeface="Arial Black"/>
              </a:rPr>
              <a:t>Toledo, 2025</a:t>
            </a:r>
            <a:endParaRPr sz="2000" b="1" i="0" u="none" strike="noStrike" cap="none" dirty="0">
              <a:solidFill>
                <a:srgbClr val="191919"/>
              </a:solidFill>
              <a:latin typeface="+mn-lt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/>
        </p:nvSpPr>
        <p:spPr>
          <a:xfrm>
            <a:off x="1028700" y="2755900"/>
            <a:ext cx="14833600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Demonstrar as etapas do pipeline de Big Data aplicadas aos dados de acidentes de trânsito.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Integrar:</a:t>
            </a:r>
          </a:p>
          <a:p>
            <a:pPr lvl="0" algn="just">
              <a:lnSpc>
                <a:spcPct val="150000"/>
              </a:lnSpc>
            </a:pPr>
            <a:endParaRPr lang="pt-BR" sz="2800" b="0" i="0" u="none" strike="noStrike" cap="none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Dados estruturados (CSV oficiais DATATRAN)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Dados não estruturados (Web Mining + NLP)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Modelagem Preditiva (Machine Learning)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Visualização geográfica e analítica</a:t>
            </a:r>
            <a:endParaRPr sz="2800" b="0" i="0" u="none" strike="noStrike" cap="none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152400" y="9944100"/>
            <a:ext cx="6899312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BIGDATA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732265" y="453072"/>
            <a:ext cx="387798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Objetivo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80720C94-B6D4-BE46-6353-13CF0C42E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1DD62CAB-121E-018B-97D6-F14811F4C946}"/>
              </a:ext>
            </a:extLst>
          </p:cNvPr>
          <p:cNvSpPr txBox="1"/>
          <p:nvPr/>
        </p:nvSpPr>
        <p:spPr>
          <a:xfrm>
            <a:off x="1028700" y="2755900"/>
            <a:ext cx="14833600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Linguagens e bibliotecas:</a:t>
            </a:r>
          </a:p>
          <a:p>
            <a:pPr lvl="0" algn="just">
              <a:lnSpc>
                <a:spcPct val="150000"/>
              </a:lnSpc>
            </a:pPr>
            <a:endParaRPr lang="pt-BR" sz="2800" dirty="0">
              <a:solidFill>
                <a:srgbClr val="191919"/>
              </a:solidFill>
            </a:endParaRP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Python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Pandas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 err="1">
                <a:solidFill>
                  <a:srgbClr val="191919"/>
                </a:solidFill>
              </a:rPr>
              <a:t>NumPyFolium</a:t>
            </a:r>
            <a:r>
              <a:rPr lang="pt-BR" sz="2800" dirty="0">
                <a:solidFill>
                  <a:srgbClr val="191919"/>
                </a:solidFill>
              </a:rPr>
              <a:t> (mapas)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 err="1">
                <a:solidFill>
                  <a:srgbClr val="191919"/>
                </a:solidFill>
              </a:rPr>
              <a:t>Matplotlib</a:t>
            </a:r>
            <a:r>
              <a:rPr lang="pt-BR" sz="2800" dirty="0">
                <a:solidFill>
                  <a:srgbClr val="191919"/>
                </a:solidFill>
              </a:rPr>
              <a:t> &amp; </a:t>
            </a:r>
            <a:r>
              <a:rPr lang="pt-BR" sz="2800" dirty="0" err="1">
                <a:solidFill>
                  <a:srgbClr val="191919"/>
                </a:solidFill>
              </a:rPr>
              <a:t>Seaborn</a:t>
            </a:r>
            <a:endParaRPr lang="pt-BR" sz="2800" dirty="0">
              <a:solidFill>
                <a:srgbClr val="191919"/>
              </a:solidFill>
            </a:endParaRP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NLTK (NLP)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 err="1">
                <a:solidFill>
                  <a:srgbClr val="191919"/>
                </a:solidFill>
              </a:rPr>
              <a:t>Scikit-Learn</a:t>
            </a:r>
            <a:r>
              <a:rPr lang="pt-BR" sz="2800" dirty="0">
                <a:solidFill>
                  <a:srgbClr val="191919"/>
                </a:solidFill>
              </a:rPr>
              <a:t> (Machine Learning)</a:t>
            </a:r>
          </a:p>
        </p:txBody>
      </p:sp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EC7F97C9-667F-3759-83DB-2D9CC516DB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49E44CB8-7ABD-D079-6205-429850DA9288}"/>
              </a:ext>
            </a:extLst>
          </p:cNvPr>
          <p:cNvSpPr txBox="1"/>
          <p:nvPr/>
        </p:nvSpPr>
        <p:spPr>
          <a:xfrm>
            <a:off x="152400" y="9944100"/>
            <a:ext cx="6899312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BIGDATA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7A130F3-236D-E7C3-1128-D2C7D357655E}"/>
              </a:ext>
            </a:extLst>
          </p:cNvPr>
          <p:cNvSpPr/>
          <p:nvPr/>
        </p:nvSpPr>
        <p:spPr>
          <a:xfrm>
            <a:off x="732265" y="453072"/>
            <a:ext cx="10136108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Tecnologias Utilizadas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0F054AB-8F4C-EC26-47F6-6AFB0C4B89AD}"/>
              </a:ext>
            </a:extLst>
          </p:cNvPr>
          <p:cNvSpPr txBox="1"/>
          <p:nvPr/>
        </p:nvSpPr>
        <p:spPr>
          <a:xfrm>
            <a:off x="8215952" y="3289110"/>
            <a:ext cx="831148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Fontes de dados:</a:t>
            </a:r>
          </a:p>
          <a:p>
            <a:pPr lvl="0" algn="just">
              <a:lnSpc>
                <a:spcPct val="150000"/>
              </a:lnSpc>
            </a:pPr>
            <a:endParaRPr lang="pt-BR" sz="2800" dirty="0">
              <a:solidFill>
                <a:srgbClr val="191919"/>
              </a:solidFill>
            </a:endParaRP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DATATRAN 2024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DATATRAN 2025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Simulação de Web </a:t>
            </a:r>
            <a:r>
              <a:rPr lang="pt-BR" sz="2800" dirty="0" err="1">
                <a:solidFill>
                  <a:srgbClr val="191919"/>
                </a:solidFill>
              </a:rPr>
              <a:t>Scraping</a:t>
            </a:r>
            <a:r>
              <a:rPr lang="pt-BR" sz="2800" dirty="0">
                <a:solidFill>
                  <a:srgbClr val="191919"/>
                </a:solidFill>
              </a:rPr>
              <a:t> (G1)</a:t>
            </a:r>
          </a:p>
          <a:p>
            <a:endParaRPr lang="pt-BR" sz="2800" dirty="0"/>
          </a:p>
        </p:txBody>
      </p:sp>
      <p:pic>
        <p:nvPicPr>
          <p:cNvPr id="2050" name="Picture 2" descr="Imagem de a Big Data architecture pipeline">
            <a:extLst>
              <a:ext uri="{FF2B5EF4-FFF2-40B4-BE49-F238E27FC236}">
                <a16:creationId xmlns:a16="http://schemas.microsoft.com/office/drawing/2014/main" id="{2EDE673F-AFDF-02D1-0142-5412ED92A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2486" y="6673785"/>
            <a:ext cx="9293114" cy="348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421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B1CE36C6-3FE1-7EF8-7EC4-7FCEAA978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F728D6C0-51EA-B189-F8B3-AAFD9253CF8D}"/>
              </a:ext>
            </a:extLst>
          </p:cNvPr>
          <p:cNvSpPr txBox="1"/>
          <p:nvPr/>
        </p:nvSpPr>
        <p:spPr>
          <a:xfrm>
            <a:off x="1028700" y="3121094"/>
            <a:ext cx="14833600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Leitura de duas bases de dados grandes: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Datatran2024.csv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Datatran2025.csv</a:t>
            </a:r>
          </a:p>
          <a:p>
            <a:pPr lvl="0" algn="just">
              <a:lnSpc>
                <a:spcPct val="150000"/>
              </a:lnSpc>
            </a:pPr>
            <a:endParaRPr lang="pt-BR" sz="2800" dirty="0">
              <a:solidFill>
                <a:srgbClr val="191919"/>
              </a:solidFill>
            </a:endParaRP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Junção dos arquivos (mais de 100 mil registros).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Padronização de </a:t>
            </a:r>
            <a:r>
              <a:rPr lang="pt-BR" sz="2800" dirty="0" err="1">
                <a:solidFill>
                  <a:srgbClr val="191919"/>
                </a:solidFill>
              </a:rPr>
              <a:t>encoding</a:t>
            </a:r>
            <a:r>
              <a:rPr lang="pt-BR" sz="2800" dirty="0">
                <a:solidFill>
                  <a:srgbClr val="191919"/>
                </a:solidFill>
              </a:rPr>
              <a:t> e tratamento inicial.</a:t>
            </a:r>
          </a:p>
        </p:txBody>
      </p:sp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7DD350C5-12EF-EDD7-2512-B12119B63C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6F05C856-7923-5810-8781-58BC7699D71E}"/>
              </a:ext>
            </a:extLst>
          </p:cNvPr>
          <p:cNvSpPr txBox="1"/>
          <p:nvPr/>
        </p:nvSpPr>
        <p:spPr>
          <a:xfrm>
            <a:off x="152400" y="9944100"/>
            <a:ext cx="6899312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BIGDATA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139E15F-D6BC-CB9E-5AF7-1BA3F979694F}"/>
              </a:ext>
            </a:extLst>
          </p:cNvPr>
          <p:cNvSpPr/>
          <p:nvPr/>
        </p:nvSpPr>
        <p:spPr>
          <a:xfrm>
            <a:off x="732265" y="453072"/>
            <a:ext cx="8392041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Etapa 1 </a:t>
            </a:r>
          </a:p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Ingestão de Dados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3917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7BBE6E46-6AC2-9477-8196-9A01B9477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7A548116-5B36-F1A2-6F4D-4A8F6BE73D00}"/>
              </a:ext>
            </a:extLst>
          </p:cNvPr>
          <p:cNvSpPr txBox="1"/>
          <p:nvPr/>
        </p:nvSpPr>
        <p:spPr>
          <a:xfrm>
            <a:off x="1028700" y="3121094"/>
            <a:ext cx="1483360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Correção de Latitude e Longitude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Remoção de linhas sem coordenadas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Conversão de datas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Criação de Variáveis de tempo (ano  e mês)</a:t>
            </a:r>
          </a:p>
        </p:txBody>
      </p:sp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2A346356-A48E-E960-D90E-C1E53620FC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37C6E8DE-597F-7E23-A765-D5E06E805D2A}"/>
              </a:ext>
            </a:extLst>
          </p:cNvPr>
          <p:cNvSpPr txBox="1"/>
          <p:nvPr/>
        </p:nvSpPr>
        <p:spPr>
          <a:xfrm>
            <a:off x="152400" y="9944100"/>
            <a:ext cx="6899312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BIGDATA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0B1A3DB-F0A7-2BC9-ED4D-8AD873A62239}"/>
              </a:ext>
            </a:extLst>
          </p:cNvPr>
          <p:cNvSpPr/>
          <p:nvPr/>
        </p:nvSpPr>
        <p:spPr>
          <a:xfrm>
            <a:off x="732265" y="453072"/>
            <a:ext cx="10751661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Etapa 2 </a:t>
            </a:r>
          </a:p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Limpeza e Refinamento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3952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96E42DBB-9394-3BEA-A735-4022D97C2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368C6F5B-A7EC-89EF-D117-2A980A30720A}"/>
              </a:ext>
            </a:extLst>
          </p:cNvPr>
          <p:cNvSpPr txBox="1"/>
          <p:nvPr/>
        </p:nvSpPr>
        <p:spPr>
          <a:xfrm>
            <a:off x="1028700" y="3121094"/>
            <a:ext cx="14833600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Criação de Features: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Ano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Mês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UF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Causa do acidente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Condição Meteorológica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91919"/>
                </a:solidFill>
              </a:rPr>
              <a:t>Tipo de Pista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Preparação dos dados para análise </a:t>
            </a:r>
            <a:r>
              <a:rPr lang="pt-BR" sz="2800" dirty="0"/>
              <a:t>estatística</a:t>
            </a:r>
            <a:r>
              <a:rPr lang="pt-BR" sz="2800" dirty="0">
                <a:solidFill>
                  <a:srgbClr val="191919"/>
                </a:solidFill>
              </a:rPr>
              <a:t> e ML.</a:t>
            </a:r>
          </a:p>
        </p:txBody>
      </p:sp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F9BA84E8-9F57-2788-47CE-BA88D22EDD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94600D0C-39DA-57A8-78EA-001D2DCD8800}"/>
              </a:ext>
            </a:extLst>
          </p:cNvPr>
          <p:cNvSpPr txBox="1"/>
          <p:nvPr/>
        </p:nvSpPr>
        <p:spPr>
          <a:xfrm>
            <a:off x="152400" y="9944100"/>
            <a:ext cx="6899312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BIGDATA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603CAB5-BFBE-66AC-E74A-95262B533F48}"/>
              </a:ext>
            </a:extLst>
          </p:cNvPr>
          <p:cNvSpPr/>
          <p:nvPr/>
        </p:nvSpPr>
        <p:spPr>
          <a:xfrm>
            <a:off x="732265" y="453072"/>
            <a:ext cx="10751661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Etapa 3 </a:t>
            </a:r>
          </a:p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Limpeza e Refinamento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0930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CF1931FA-AE8E-A6B2-210D-8CFE4DC8A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2D421E54-CE1C-6169-721A-C20989D131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CE2FB655-4455-57F1-A769-3DC62694CC7E}"/>
              </a:ext>
            </a:extLst>
          </p:cNvPr>
          <p:cNvSpPr txBox="1"/>
          <p:nvPr/>
        </p:nvSpPr>
        <p:spPr>
          <a:xfrm>
            <a:off x="152400" y="9944100"/>
            <a:ext cx="6899312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BIGDATA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573357F-9870-1DE1-EEEB-56922C17A870}"/>
              </a:ext>
            </a:extLst>
          </p:cNvPr>
          <p:cNvSpPr/>
          <p:nvPr/>
        </p:nvSpPr>
        <p:spPr>
          <a:xfrm>
            <a:off x="732265" y="453072"/>
            <a:ext cx="1177758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Acidentes por Estado (UF)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C6C39C3-FE59-067B-1A06-93CCD0270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778" y="1920389"/>
            <a:ext cx="12892443" cy="644622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B01B4D7-9A13-BD9C-9D32-7CF5C2037D2B}"/>
              </a:ext>
            </a:extLst>
          </p:cNvPr>
          <p:cNvSpPr txBox="1"/>
          <p:nvPr/>
        </p:nvSpPr>
        <p:spPr>
          <a:xfrm>
            <a:off x="2697778" y="8366611"/>
            <a:ext cx="93981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Estado com maior Incidência: Minas Gerais (MG)</a:t>
            </a:r>
          </a:p>
          <a:p>
            <a:r>
              <a:rPr lang="pt-BR" sz="2800" dirty="0"/>
              <a:t>Estado com menos Incidência: Roraima (RR)</a:t>
            </a:r>
          </a:p>
        </p:txBody>
      </p:sp>
    </p:spTree>
    <p:extLst>
      <p:ext uri="{BB962C8B-B14F-4D97-AF65-F5344CB8AC3E}">
        <p14:creationId xmlns:p14="http://schemas.microsoft.com/office/powerpoint/2010/main" val="2097778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E4284663-063E-9F9A-D4B6-8A688D484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AE3E4B93-E5C7-B46B-5955-5661D0E0AB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58CFF57C-D0DF-7C45-B601-3CC7C20E8B30}"/>
              </a:ext>
            </a:extLst>
          </p:cNvPr>
          <p:cNvSpPr txBox="1"/>
          <p:nvPr/>
        </p:nvSpPr>
        <p:spPr>
          <a:xfrm>
            <a:off x="152400" y="9944100"/>
            <a:ext cx="6899312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BIGDATA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8843773-DB32-8316-62C1-CD1787EAF6AE}"/>
              </a:ext>
            </a:extLst>
          </p:cNvPr>
          <p:cNvSpPr/>
          <p:nvPr/>
        </p:nvSpPr>
        <p:spPr>
          <a:xfrm>
            <a:off x="732265" y="453072"/>
            <a:ext cx="618630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Top 10 Causa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4D5D409-B9E2-9D01-70E4-DCF2651EDC2D}"/>
              </a:ext>
            </a:extLst>
          </p:cNvPr>
          <p:cNvSpPr txBox="1"/>
          <p:nvPr/>
        </p:nvSpPr>
        <p:spPr>
          <a:xfrm>
            <a:off x="2697778" y="8366611"/>
            <a:ext cx="93981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Causas Mais Frequentes: Ausência de reação do condutor e Reação tardia ou ineficiente do condutor.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10948A9-9EC7-4025-A485-5CC96694B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778" y="1817182"/>
            <a:ext cx="12801625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289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8366E242-ACC7-9E32-50BA-EE60E80C7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3B4F485A-8A53-DE61-C29C-A4170B292F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939B9993-3BEE-054C-80FC-A3A3D5F2E29B}"/>
              </a:ext>
            </a:extLst>
          </p:cNvPr>
          <p:cNvSpPr txBox="1"/>
          <p:nvPr/>
        </p:nvSpPr>
        <p:spPr>
          <a:xfrm>
            <a:off x="152400" y="9944100"/>
            <a:ext cx="6899312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BIGDATA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9091DEF-2F4A-28B7-A871-5881D3291AB9}"/>
              </a:ext>
            </a:extLst>
          </p:cNvPr>
          <p:cNvSpPr/>
          <p:nvPr/>
        </p:nvSpPr>
        <p:spPr>
          <a:xfrm>
            <a:off x="732265" y="453072"/>
            <a:ext cx="1177758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Acidentes por Fase do Dia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43D0ACA-2874-671F-9415-EE5BD02AF440}"/>
              </a:ext>
            </a:extLst>
          </p:cNvPr>
          <p:cNvSpPr txBox="1"/>
          <p:nvPr/>
        </p:nvSpPr>
        <p:spPr>
          <a:xfrm>
            <a:off x="2697778" y="8366611"/>
            <a:ext cx="9398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Geralmente, maior concentração: Pleno dia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FAF30AD-6920-1071-7061-D7983DF0E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778" y="2031804"/>
            <a:ext cx="10558011" cy="633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035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D6B830CB-7357-9FC7-A319-151518F32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0DA1CDDD-1184-CE96-5442-2E48CBAB30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A04763E8-93EF-6CC9-671C-D330A15D3BCF}"/>
              </a:ext>
            </a:extLst>
          </p:cNvPr>
          <p:cNvSpPr txBox="1"/>
          <p:nvPr/>
        </p:nvSpPr>
        <p:spPr>
          <a:xfrm>
            <a:off x="152400" y="9944100"/>
            <a:ext cx="6899312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BIGDATA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7ADA8D5-88C6-980A-C0A1-28A46FC9324E}"/>
              </a:ext>
            </a:extLst>
          </p:cNvPr>
          <p:cNvSpPr/>
          <p:nvPr/>
        </p:nvSpPr>
        <p:spPr>
          <a:xfrm>
            <a:off x="732265" y="453072"/>
            <a:ext cx="7622600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Mortos x Feridos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935ED40-635C-D821-723E-49315426277A}"/>
              </a:ext>
            </a:extLst>
          </p:cNvPr>
          <p:cNvSpPr txBox="1"/>
          <p:nvPr/>
        </p:nvSpPr>
        <p:spPr>
          <a:xfrm>
            <a:off x="2697778" y="8031252"/>
            <a:ext cx="939815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Comparação entre:</a:t>
            </a:r>
          </a:p>
          <a:p>
            <a:r>
              <a:rPr lang="pt-BR" sz="2800" dirty="0"/>
              <a:t>Mortes</a:t>
            </a:r>
          </a:p>
          <a:p>
            <a:r>
              <a:rPr lang="pt-BR" sz="2800" dirty="0"/>
              <a:t>Feridos graves</a:t>
            </a:r>
          </a:p>
          <a:p>
            <a:r>
              <a:rPr lang="pt-BR" sz="2800" dirty="0"/>
              <a:t>Feridos leves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81C40A8-40F3-5C71-74F0-4E7C8F40B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778" y="1988759"/>
            <a:ext cx="8056658" cy="604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18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F0AD588B-0519-7F1D-2341-9B31FABE3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DD945B32-7403-94C1-E291-4F28462D0B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99F5DC6B-8D0E-C753-43EF-C42B7180A139}"/>
              </a:ext>
            </a:extLst>
          </p:cNvPr>
          <p:cNvSpPr txBox="1"/>
          <p:nvPr/>
        </p:nvSpPr>
        <p:spPr>
          <a:xfrm>
            <a:off x="152400" y="9944100"/>
            <a:ext cx="6899312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BIGDATA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78814D4-F417-0EF5-198A-DD1B8A27596B}"/>
              </a:ext>
            </a:extLst>
          </p:cNvPr>
          <p:cNvSpPr/>
          <p:nvPr/>
        </p:nvSpPr>
        <p:spPr>
          <a:xfrm>
            <a:off x="732265" y="453072"/>
            <a:ext cx="12085360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Sazonalidade (2024 x 2025)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9861CC4-E592-169F-AB48-0C2E741DBE03}"/>
              </a:ext>
            </a:extLst>
          </p:cNvPr>
          <p:cNvSpPr txBox="1"/>
          <p:nvPr/>
        </p:nvSpPr>
        <p:spPr>
          <a:xfrm>
            <a:off x="2697778" y="8031252"/>
            <a:ext cx="93981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Meses com maior incidência: </a:t>
            </a:r>
          </a:p>
          <a:p>
            <a:r>
              <a:rPr lang="pt-BR" sz="2800" dirty="0"/>
              <a:t>Final do Ano sempre tem um pico de Acidentes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137EAC3-90B0-CEED-C55C-159F74B38B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778" y="1750367"/>
            <a:ext cx="12801625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533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8F85C40D-A628-1A27-8BA3-C1282F2E2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5E0FB05E-F7E2-A11A-0224-AA020B40CD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5193D2D2-BE53-8298-3F28-876DA0D5D58A}"/>
              </a:ext>
            </a:extLst>
          </p:cNvPr>
          <p:cNvSpPr txBox="1"/>
          <p:nvPr/>
        </p:nvSpPr>
        <p:spPr>
          <a:xfrm>
            <a:off x="152400" y="9944100"/>
            <a:ext cx="6899312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BIGDATA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A104103-0F10-0B47-3419-5023EC1C9A2A}"/>
              </a:ext>
            </a:extLst>
          </p:cNvPr>
          <p:cNvSpPr/>
          <p:nvPr/>
        </p:nvSpPr>
        <p:spPr>
          <a:xfrm>
            <a:off x="732265" y="453072"/>
            <a:ext cx="1644552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Mapa de Calor (Brasil)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576F01B-655B-8A4B-8893-12F1CC7BDF51}"/>
              </a:ext>
            </a:extLst>
          </p:cNvPr>
          <p:cNvSpPr txBox="1"/>
          <p:nvPr/>
        </p:nvSpPr>
        <p:spPr>
          <a:xfrm>
            <a:off x="2697778" y="8031252"/>
            <a:ext cx="93981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Exibe concentração nacional</a:t>
            </a:r>
          </a:p>
          <a:p>
            <a:r>
              <a:rPr lang="pt-BR" sz="2800" dirty="0"/>
              <a:t>Regiões com densidade mais elevada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3F8FCBD-5819-4A09-73DB-1EEC21C8D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778" y="2107479"/>
            <a:ext cx="11527787" cy="546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953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BE5A2373-736C-F9CC-F6BD-069FF2F1B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FE2A2E29-3C8C-76D5-64E9-750D43C8DD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6A5733AF-F8DF-0593-87C6-1DB62E6164E5}"/>
              </a:ext>
            </a:extLst>
          </p:cNvPr>
          <p:cNvSpPr txBox="1"/>
          <p:nvPr/>
        </p:nvSpPr>
        <p:spPr>
          <a:xfrm>
            <a:off x="152400" y="9944100"/>
            <a:ext cx="6899312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BIGDATA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B84F9D6-D65D-DBF6-4B51-2A206EA5CB46}"/>
              </a:ext>
            </a:extLst>
          </p:cNvPr>
          <p:cNvSpPr/>
          <p:nvPr/>
        </p:nvSpPr>
        <p:spPr>
          <a:xfrm>
            <a:off x="732265" y="453072"/>
            <a:ext cx="1644552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Mapa de Calor (Paraná)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8687AF3-847C-054C-7BA7-8DA2BC7929D1}"/>
              </a:ext>
            </a:extLst>
          </p:cNvPr>
          <p:cNvSpPr txBox="1"/>
          <p:nvPr/>
        </p:nvSpPr>
        <p:spPr>
          <a:xfrm>
            <a:off x="2697778" y="8031252"/>
            <a:ext cx="9398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Concentração na capital e Rodovias principais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3E2ED4E-6D7F-4E6A-09D0-CD09BF95A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778" y="2422221"/>
            <a:ext cx="11427655" cy="542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588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3ADA8153-08FA-07C7-BACE-A41564B85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9ABDFE3D-0E87-EDFE-CC83-D065D475B0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25B7A042-91CD-AC38-79AB-F6A21116F158}"/>
              </a:ext>
            </a:extLst>
          </p:cNvPr>
          <p:cNvSpPr txBox="1"/>
          <p:nvPr/>
        </p:nvSpPr>
        <p:spPr>
          <a:xfrm>
            <a:off x="152400" y="9944100"/>
            <a:ext cx="6899312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BIGDATA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7D6DFC2-9B40-7394-9C4F-349F5783E37D}"/>
              </a:ext>
            </a:extLst>
          </p:cNvPr>
          <p:cNvSpPr/>
          <p:nvPr/>
        </p:nvSpPr>
        <p:spPr>
          <a:xfrm>
            <a:off x="732265" y="453072"/>
            <a:ext cx="16445528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Etapa 4</a:t>
            </a:r>
          </a:p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Mineração de Texto </a:t>
            </a:r>
          </a:p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(Web Mining + NLP)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404C74F-81BB-C0D0-8436-E445CD4A6FEA}"/>
              </a:ext>
            </a:extLst>
          </p:cNvPr>
          <p:cNvSpPr txBox="1"/>
          <p:nvPr/>
        </p:nvSpPr>
        <p:spPr>
          <a:xfrm>
            <a:off x="600501" y="4449170"/>
            <a:ext cx="158041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Simulação de coleta de notícias do G1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Tokenização com NLTK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Identificação de termos-chave: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Ex.: </a:t>
            </a:r>
            <a:r>
              <a:rPr lang="pt-BR" sz="2800" i="1" dirty="0"/>
              <a:t>acidente, mortos, feridos, colisão…</a:t>
            </a: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Esses termos reforçam os padrões encontrados nos dados estruturados.</a:t>
            </a:r>
          </a:p>
        </p:txBody>
      </p:sp>
    </p:spTree>
    <p:extLst>
      <p:ext uri="{BB962C8B-B14F-4D97-AF65-F5344CB8AC3E}">
        <p14:creationId xmlns:p14="http://schemas.microsoft.com/office/powerpoint/2010/main" val="243038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CDC409AE-F4F8-9F34-8BE5-5E015CEAD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2973F10E-3BCF-5EC5-CC31-6AFEB6599B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4B14454A-8E6F-5FB1-C4A4-8716BEC336F5}"/>
              </a:ext>
            </a:extLst>
          </p:cNvPr>
          <p:cNvSpPr txBox="1"/>
          <p:nvPr/>
        </p:nvSpPr>
        <p:spPr>
          <a:xfrm>
            <a:off x="152400" y="9944100"/>
            <a:ext cx="6899312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BIGDATA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2B0CA9D-F248-23B2-F438-ACEE9CF7787F}"/>
              </a:ext>
            </a:extLst>
          </p:cNvPr>
          <p:cNvSpPr/>
          <p:nvPr/>
        </p:nvSpPr>
        <p:spPr>
          <a:xfrm>
            <a:off x="732265" y="453072"/>
            <a:ext cx="1644552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Top 10 Features mais Importantes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EF1ACA5-FF3E-B644-2C03-AFDEF67D6864}"/>
              </a:ext>
            </a:extLst>
          </p:cNvPr>
          <p:cNvSpPr txBox="1"/>
          <p:nvPr/>
        </p:nvSpPr>
        <p:spPr>
          <a:xfrm>
            <a:off x="2251575" y="7156272"/>
            <a:ext cx="158041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Variáveis mais importantes: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Tipo de acidente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Causa do acidente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Condição meteorológica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Fase do dia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UF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C828036-1B61-E789-3D2F-C015CFAF5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1574" y="1817182"/>
            <a:ext cx="9512795" cy="543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116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7E6BB342-0A11-6A25-420D-A505CCECB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0AFB6459-BA71-0264-1BFA-427FD6DEA4F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7E655CC8-AFF5-377F-D75E-B6D72D10FD34}"/>
              </a:ext>
            </a:extLst>
          </p:cNvPr>
          <p:cNvSpPr txBox="1"/>
          <p:nvPr/>
        </p:nvSpPr>
        <p:spPr>
          <a:xfrm>
            <a:off x="152400" y="9944100"/>
            <a:ext cx="6899312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BIGDATA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E9E6C92-B370-30FB-70F2-468022C79586}"/>
              </a:ext>
            </a:extLst>
          </p:cNvPr>
          <p:cNvSpPr/>
          <p:nvPr/>
        </p:nvSpPr>
        <p:spPr>
          <a:xfrm>
            <a:off x="732265" y="453072"/>
            <a:ext cx="1644552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Conclusão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15C7890-D045-713E-7CA2-737939EAAF83}"/>
              </a:ext>
            </a:extLst>
          </p:cNvPr>
          <p:cNvSpPr txBox="1"/>
          <p:nvPr/>
        </p:nvSpPr>
        <p:spPr>
          <a:xfrm>
            <a:off x="1272300" y="2679807"/>
            <a:ext cx="158041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O modelo foi capaz de identificar padrões de severidade.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Os mapas de calor permitiram </a:t>
            </a:r>
            <a:r>
              <a:rPr lang="pt-BR" sz="2800" dirty="0" err="1"/>
              <a:t>geolocalizar</a:t>
            </a:r>
            <a:r>
              <a:rPr lang="pt-BR" sz="2800" dirty="0"/>
              <a:t> áreas críticas.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A combinação de dados estruturados + NLP + ML trouxe insights mais completos.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Demonstração do ciclo completo de um pipeline Big Data.</a:t>
            </a:r>
          </a:p>
        </p:txBody>
      </p:sp>
    </p:spTree>
    <p:extLst>
      <p:ext uri="{BB962C8B-B14F-4D97-AF65-F5344CB8AC3E}">
        <p14:creationId xmlns:p14="http://schemas.microsoft.com/office/powerpoint/2010/main" val="3194893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52" y="-1"/>
            <a:ext cx="18274748" cy="1030356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-2743200" y="3651521"/>
            <a:ext cx="13002784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u="none" dirty="0">
                <a:solidFill>
                  <a:srgbClr val="416D3F"/>
                </a:solidFill>
                <a:latin typeface="Arial"/>
                <a:ea typeface="Arial"/>
                <a:cs typeface="Arial"/>
                <a:sym typeface="Arial"/>
              </a:rPr>
              <a:t>Dúvidas?</a:t>
            </a:r>
            <a:endParaRPr sz="8800" b="1" u="none" dirty="0">
              <a:solidFill>
                <a:srgbClr val="416D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87288" y="9954692"/>
            <a:ext cx="6899312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BIGDATA</a:t>
            </a:r>
          </a:p>
        </p:txBody>
      </p:sp>
      <p:pic>
        <p:nvPicPr>
          <p:cNvPr id="214" name="Google Shape;214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443</Words>
  <Application>Microsoft Office PowerPoint</Application>
  <PresentationFormat>Personalizar</PresentationFormat>
  <Paragraphs>108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Calibri</vt:lpstr>
      <vt:lpstr>Arial</vt:lpstr>
      <vt:lpstr>Arial Black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Nathan Mariotto</cp:lastModifiedBy>
  <cp:revision>19</cp:revision>
  <dcterms:modified xsi:type="dcterms:W3CDTF">2025-11-25T15:50:15Z</dcterms:modified>
</cp:coreProperties>
</file>